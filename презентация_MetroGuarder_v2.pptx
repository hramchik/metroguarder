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365" r:id="rId2"/>
    <p:sldId id="366" r:id="rId3"/>
    <p:sldId id="362" r:id="rId4"/>
    <p:sldId id="364" r:id="rId5"/>
    <p:sldId id="375" r:id="rId6"/>
    <p:sldId id="376" r:id="rId8"/>
    <p:sldId id="377" r:id="rId7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5839"/>
  </p:normalViewPr>
  <p:slideViewPr>
    <p:cSldViewPr snapToGrid="0" showGuides="1">
      <p:cViewPr varScale="1">
        <p:scale>
          <a:sx n="106" d="100"/>
          <a:sy n="106" d="100"/>
        </p:scale>
        <p:origin x="702" y="1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[0:45 · 15 с]</a:t>
            </a:r>
          </a:p>
          <a:p>
            <a:r>
              <a:rPr sz="1200">
                <a:latin typeface="Montserrat"/>
              </a:rPr>
              <a:t>Состав команды и контакты — на слайде.</a:t>
            </a:r>
          </a:p>
          <a:p>
            <a:r>
              <a:rPr sz="1200">
                <a:latin typeface="Montserrat"/>
              </a:rPr>
              <a:t>Не зачитывать. Пауза две секунды и дальше.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[1:00 · 25 с]</a:t>
            </a:r>
          </a:p>
          <a:p>
            <a:r>
              <a:rPr sz="1200">
                <a:latin typeface="Montserrat"/>
              </a:rPr>
              <a:t>Три вопроса организаторов — коротко.</a:t>
            </a:r>
          </a:p>
          <a:p>
            <a:r>
              <a:rPr sz="1200">
                <a:latin typeface="Montserrat"/>
              </a:rPr>
              <a:t>Как собрались: инженеры по ROS 2 и трёхмерным облакам точек, участвовали в профильных</a:t>
            </a:r>
          </a:p>
          <a:p>
            <a:r>
              <a:rPr sz="1200">
                <a:latin typeface="Montserrat"/>
              </a:rPr>
              <a:t>хакатонах, делали навигацию для беспилотников.</a:t>
            </a:r>
          </a:p>
          <a:p>
            <a:r>
              <a:rPr sz="1200">
                <a:latin typeface="Montserrat"/>
              </a:rPr>
              <a:t>Почему эта задача: беспилотное метро — передний край, и это настоящая безопасность</a:t>
            </a:r>
          </a:p>
          <a:p>
            <a:r>
              <a:rPr sz="1200">
                <a:latin typeface="Montserrat"/>
              </a:rPr>
              <a:t>пассажиров, а не демо.</a:t>
            </a:r>
          </a:p>
          <a:p>
            <a:r>
              <a:rPr sz="1200">
                <a:latin typeface="Montserrat"/>
              </a:rPr>
              <a:t>Главный вызов: сильный шум лидара и отсутствие данных для обучения. Преодолели переходом</a:t>
            </a:r>
          </a:p>
          <a:p>
            <a:r>
              <a:rPr sz="1200">
                <a:latin typeface="Montserrat"/>
              </a:rPr>
              <a:t>от машинного обучения к геометрическому анализу аномалий.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[0:00 · 15 с]</a:t>
            </a:r>
          </a:p>
          <a:p>
            <a:r>
              <a:rPr sz="1200">
                <a:latin typeface="Montserrat"/>
              </a:rPr>
              <a:t>Здравствуйте. Команда «Слепой машинист», задача номер пять — обнаружение посторонних</a:t>
            </a:r>
          </a:p>
          <a:p>
            <a:r>
              <a:rPr sz="1200">
                <a:latin typeface="Montserrat"/>
              </a:rPr>
              <a:t>объектов для беспилотных поездов в тоннеле метро по данным трёхмерного лидара.</a:t>
            </a:r>
          </a:p>
          <a:p>
            <a:r>
              <a:rPr sz="1200">
                <a:latin typeface="Montserrat"/>
              </a:rPr>
              <a:t>Наше решение называется MetroGuarder.</a:t>
            </a:r>
          </a:p>
          <a:p/>
          <a:p>
            <a:r>
              <a:rPr sz="1200">
                <a:latin typeface="Montserrat"/>
              </a:rPr>
              <a:t>ЕСЛИ СПРОСЯТ «почему такое название команды» — потому что беспилотный поезд едет вслепую:</a:t>
            </a:r>
          </a:p>
          <a:p>
            <a:r>
              <a:rPr sz="1200">
                <a:latin typeface="Montserrat"/>
              </a:rPr>
              <a:t>у него нет машиниста, который смотрит на путь. Мы возвращаем ему зрение.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[0:15 · 30 с]</a:t>
            </a:r>
          </a:p>
          <a:p>
            <a:r>
              <a:rPr sz="1200">
                <a:latin typeface="Montserrat"/>
              </a:rPr>
              <a:t>Коротко о команде и о сути. Четыре человека, Саратов. Капитан — Фалалеев Александр.</a:t>
            </a:r>
          </a:p>
          <a:p/>
          <a:p>
            <a:r>
              <a:rPr sz="1200">
                <a:latin typeface="Montserrat"/>
              </a:rPr>
              <a:t>Главное, что стоит услышать сейчас, — одна мысль: размеченных препятствий в тоннеле нет</a:t>
            </a:r>
          </a:p>
          <a:p>
            <a:r>
              <a:rPr sz="1200">
                <a:latin typeface="Montserrat"/>
              </a:rPr>
              <a:t>и учить нечему. Зато сам тоннель предельно регулярен. Рельсы задают ось пути, ось задаёт</a:t>
            </a:r>
          </a:p>
          <a:p>
            <a:r>
              <a:rPr sz="1200">
                <a:latin typeface="Montserrat"/>
              </a:rPr>
              <a:t>габарит, обделка задаёт границу свободного места. Все признаки геометрические — ни один</a:t>
            </a:r>
          </a:p>
          <a:p>
            <a:r>
              <a:rPr sz="1200">
                <a:latin typeface="Montserrat"/>
              </a:rPr>
              <a:t>не требует обучающих данных.</a:t>
            </a:r>
          </a:p>
          <a:p/>
          <a:p>
            <a:r>
              <a:rPr sz="1200">
                <a:latin typeface="Montserrat"/>
              </a:rPr>
              <a:t>Модуль на ROS 2 Humble в Docker-контейнере. Человек в габарите обнаруживается до ста</a:t>
            </a:r>
          </a:p>
          <a:p>
            <a:r>
              <a:rPr sz="1200">
                <a:latin typeface="Montserrat"/>
              </a:rPr>
              <a:t>двадцати метров, решение выдаётся десять раз в секунду.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[1:25 · 35 с]</a:t>
            </a:r>
          </a:p>
          <a:p>
            <a:r>
              <a:rPr sz="1200">
                <a:latin typeface="Montserrat"/>
              </a:rPr>
              <a:t>Коротко о решении — техническая и маркетинговая суть.</a:t>
            </a:r>
          </a:p>
          <a:p/>
          <a:p>
            <a:r>
              <a:rPr sz="1200">
                <a:latin typeface="Montserrat"/>
              </a:rPr>
              <a:t>Слева: ROS 2 Humble на Ubuntu 22.04, поставляется Docker-образом. На входе поток облаков</a:t>
            </a:r>
          </a:p>
          <a:p>
            <a:r>
              <a:rPr sz="1200">
                <a:latin typeface="Montserrat"/>
              </a:rPr>
              <a:t>точек с лидара — десять герц, от трёхсот до девятисот двадцати тысяч точек в кадре.</a:t>
            </a:r>
          </a:p>
          <a:p>
            <a:r>
              <a:rPr sz="1200">
                <a:latin typeface="Montserrat"/>
              </a:rPr>
              <a:t>На выходе — решение по габариту, список препятствий и дальность до ближайшей помехи.</a:t>
            </a:r>
          </a:p>
          <a:p/>
          <a:p>
            <a:r>
              <a:rPr sz="1200">
                <a:latin typeface="Montserrat"/>
              </a:rPr>
              <a:t>Справа: главное эксплуатационное преимущество — обобщаемость. Профиль линии содержит</a:t>
            </a:r>
          </a:p>
          <a:p>
            <a:r>
              <a:rPr sz="1200">
                <a:latin typeface="Montserrat"/>
              </a:rPr>
              <a:t>только физику: габарит, колея, междупутье, радиус кривой, торможение, размер минимального</a:t>
            </a:r>
          </a:p>
          <a:p>
            <a:r>
              <a:rPr sz="1200">
                <a:latin typeface="Montserrat"/>
              </a:rPr>
              <a:t>препятствия. Семнадцать строк из регламента. Всё остальное система измеряет сама.</a:t>
            </a:r>
          </a:p>
          <a:p/>
          <a:p>
            <a:r>
              <a:rPr sz="1200">
                <a:latin typeface="Montserrat"/>
              </a:rPr>
              <a:t>ЭТО КЛЮЧЕВОЙ ТЕЗИС ВСЕЙ ЗАЩИТЫ. Дальше мы его только доказываем.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[2:00 · 10 с]</a:t>
            </a:r>
          </a:p>
          <a:p>
            <a:r>
              <a:rPr sz="1200">
                <a:latin typeface="Montserrat"/>
              </a:rPr>
              <a:t>Обязательная часть позади. Дальше — решение: как устроено, что измерено и чем подтверждено.</a:t>
            </a:r>
          </a:p>
          <a:p>
            <a:r>
              <a:rPr sz="1200">
                <a:latin typeface="Montserrat"/>
              </a:rPr>
              <a:t>Быстро, слайд-указатель. Не задерживаться.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[2:10 · 50 с]</a:t>
            </a:r>
          </a:p>
          <a:p>
            <a:r>
              <a:rPr sz="1200">
                <a:latin typeface="Montserrat"/>
              </a:rPr>
              <a:t>Начнём с требования, из которого выведено всё остальное.</a:t>
            </a:r>
          </a:p>
          <a:p/>
          <a:p>
            <a:r>
              <a:rPr sz="1200">
                <a:latin typeface="Montserrat"/>
              </a:rPr>
              <a:t>Поезд метро идёт четырнадцать и семь десятых метра в секунду и останавливается за</a:t>
            </a:r>
          </a:p>
          <a:p>
            <a:r>
              <a:rPr sz="1200">
                <a:latin typeface="Montserrat"/>
              </a:rPr>
              <a:t>девяносто два метра. Значит всё, что не увидено заранее, для него просто не существует.</a:t>
            </a:r>
          </a:p>
          <a:p>
            <a:r>
              <a:rPr sz="1200">
                <a:latin typeface="Montserrat"/>
              </a:rPr>
              <a:t>Смотрите на шкалу: было шестьдесят метров — этого мало, тормозной путь длиннее.</a:t>
            </a:r>
          </a:p>
          <a:p>
            <a:r>
              <a:rPr sz="1200">
                <a:latin typeface="Montserrat"/>
              </a:rPr>
              <a:t>Стало сто двадцать — появился запас.</a:t>
            </a:r>
          </a:p>
          <a:p/>
          <a:p>
            <a:r>
              <a:rPr sz="1200">
                <a:latin typeface="Montserrat"/>
              </a:rPr>
              <a:t>Почему это трудно — четыре причины.</a:t>
            </a:r>
          </a:p>
          <a:p>
            <a:r>
              <a:rPr sz="1200">
                <a:latin typeface="Montserrat"/>
              </a:rPr>
              <a:t>Первая: тоннель почти всегда пуст, размеченных примеров препятствий нет и взять их негде.</a:t>
            </a:r>
          </a:p>
          <a:p>
            <a:r>
              <a:rPr sz="1200">
                <a:latin typeface="Montserrat"/>
              </a:rPr>
              <a:t>Вторая: от человека на ста метрах приходит около четырнадцати отражений — по одному кадру</a:t>
            </a:r>
          </a:p>
          <a:p>
            <a:r>
              <a:rPr sz="1200">
                <a:latin typeface="Montserrat"/>
              </a:rPr>
              <a:t>они рассыпаются на группы по две-три точки.</a:t>
            </a:r>
          </a:p>
          <a:p>
            <a:r>
              <a:rPr sz="1200">
                <a:latin typeface="Montserrat"/>
              </a:rPr>
              <a:t>Третья: контактный рельс, кабельные лотки и сама обделка штатно находятся внутри габарита.</a:t>
            </a:r>
          </a:p>
          <a:p>
            <a:r>
              <a:rPr sz="1200">
                <a:latin typeface="Montserrat"/>
              </a:rPr>
              <a:t>Четвёртая, и самая дорогая: ложное экстренное торможение — это не помарка, это остановка</a:t>
            </a:r>
          </a:p>
          <a:p>
            <a:r>
              <a:rPr sz="1200">
                <a:latin typeface="Montserrat"/>
              </a:rPr>
              <a:t>всей линии.</a:t>
            </a:r>
          </a:p>
          <a:p/>
          <a:p>
            <a:r>
              <a:rPr sz="1200">
                <a:latin typeface="Montserrat"/>
              </a:rPr>
              <a:t>Отсюда приоритеты: дальность важнее точности, а ложная тревога дороже пропуска редкого</a:t>
            </a:r>
          </a:p>
          <a:p>
            <a:r>
              <a:rPr sz="1200">
                <a:latin typeface="Montserrat"/>
              </a:rPr>
              <a:t>слабого кластера.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[3:00 · 45 с]</a:t>
            </a:r>
          </a:p>
          <a:p>
            <a:r>
              <a:rPr sz="1200">
                <a:latin typeface="Montserrat"/>
              </a:rPr>
              <a:t>Ключевая идея — одна фраза, и она вверху.</a:t>
            </a:r>
          </a:p>
          <a:p/>
          <a:p>
            <a:r>
              <a:rPr sz="1200">
                <a:latin typeface="Montserrat"/>
              </a:rPr>
              <a:t>Мы не учим систему узнавать препятствия. Мы описываем нормальный тоннель.</a:t>
            </a:r>
          </a:p>
          <a:p/>
          <a:p>
            <a:r>
              <a:rPr sz="1200">
                <a:latin typeface="Montserrat"/>
              </a:rPr>
              <a:t>Три опоры.</a:t>
            </a:r>
          </a:p>
          <a:p>
            <a:r>
              <a:rPr sz="1200">
                <a:latin typeface="Montserrat"/>
              </a:rPr>
              <a:t>Рельсы задают ось пути. Мы не ищем сами рельсы — гистограмма их не показывает. Мы ищем</a:t>
            </a:r>
          </a:p>
          <a:p>
            <a:r>
              <a:rPr sz="1200">
                <a:latin typeface="Montserrat"/>
              </a:rPr>
              <a:t>форму сечения: два бугра на полшага колеи и провал между ними. Эта форма различима там,</a:t>
            </a:r>
          </a:p>
          <a:p>
            <a:r>
              <a:rPr sz="1200">
                <a:latin typeface="Montserrat"/>
              </a:rPr>
              <a:t>где отдельные рельсы лидар уже не разрешает.</a:t>
            </a:r>
          </a:p>
          <a:p>
            <a:r>
              <a:rPr sz="1200">
                <a:latin typeface="Montserrat"/>
              </a:rPr>
              <a:t>Ось задаёт габарит. Габарит подвижного состава протягивается вдоль найденной оси —</a:t>
            </a:r>
          </a:p>
          <a:p>
            <a:r>
              <a:rPr sz="1200">
                <a:latin typeface="Montserrat"/>
              </a:rPr>
              <a:t>с запасом на раскачку и выносом кузова в кривой.</a:t>
            </a:r>
          </a:p>
          <a:p>
            <a:r>
              <a:rPr sz="1200">
                <a:latin typeface="Montserrat"/>
              </a:rPr>
              <a:t>Обделка задаёт границу свободного места. Стена — не предмет, а граница. У предмета</a:t>
            </a:r>
          </a:p>
          <a:p>
            <a:r>
              <a:rPr sz="1200">
                <a:latin typeface="Montserrat"/>
              </a:rPr>
              <a:t>в габарите заход внутрь свободного места измеряется метрами, у обделки он около нуля.</a:t>
            </a:r>
          </a:p>
          <a:p/>
          <a:p>
            <a:r>
              <a:rPr sz="1200">
                <a:latin typeface="Montserrat"/>
              </a:rPr>
              <a:t>Под каждым пунктом — схема: слева профиль сечения «бугор — провал — бугор», в середине</a:t>
            </a:r>
          </a:p>
          <a:p>
            <a:r>
              <a:rPr sz="1200">
                <a:latin typeface="Montserrat"/>
              </a:rPr>
              <a:t>коридор габарита вдоль оси, справа труба тоннеля с габаритом внутри неё.</a:t>
            </a:r>
          </a:p>
          <a:p/>
          <a:p>
            <a:r>
              <a:rPr sz="1200">
                <a:latin typeface="Montserrat"/>
              </a:rPr>
              <a:t>И тогда помеха — это то, что одновременно попало в габарит, не является границей свободного</a:t>
            </a:r>
          </a:p>
          <a:p>
            <a:r>
              <a:rPr sz="1200">
                <a:latin typeface="Montserrat"/>
              </a:rPr>
              <a:t>места и приближается со скоростью поезда. Всё вместе — полоса внизу слайда.</a:t>
            </a:r>
          </a:p>
          <a:p>
            <a:r>
              <a:rPr sz="1200">
                <a:latin typeface="Montserrat"/>
              </a:rPr>
              <a:t>Все три признака геометрические. Ни одного обучающего примера, ни одной настройки,</a:t>
            </a:r>
          </a:p>
          <a:p>
            <a:r>
              <a:rPr sz="1200">
                <a:latin typeface="Montserrat"/>
              </a:rPr>
              <a:t>снятой с конкретной записи.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[3:45 · 35 с]</a:t>
            </a:r>
          </a:p>
          <a:p>
            <a:r>
              <a:rPr sz="1200">
                <a:latin typeface="Montserrat"/>
              </a:rPr>
              <a:t>Архитектура. Три пакета ROS 2, одна нода реального времени.</a:t>
            </a:r>
          </a:p>
          <a:p/>
          <a:p>
            <a:r>
              <a:rPr sz="1200">
                <a:latin typeface="Montserrat"/>
              </a:rPr>
              <a:t>Слева источник облака — запись, драйвер лидара на поезде или проигрыватель открытого</a:t>
            </a:r>
          </a:p>
          <a:p>
            <a:r>
              <a:rPr sz="1200">
                <a:latin typeface="Montserrat"/>
              </a:rPr>
              <a:t>датасета. Имя топика любое, детектор находит облако сам.</a:t>
            </a:r>
          </a:p>
          <a:p>
            <a:r>
              <a:rPr sz="1200">
                <a:latin typeface="Montserrat"/>
              </a:rPr>
              <a:t>В центре — obstacle_detector, весь тракт в одной ноде.</a:t>
            </a:r>
          </a:p>
          <a:p>
            <a:r>
              <a:rPr sz="1200">
                <a:latin typeface="Montserrat"/>
              </a:rPr>
              <a:t>Справа четыре топика и потребители: система управления поездом, монитор в терминале, RViz.</a:t>
            </a:r>
          </a:p>
          <a:p/>
          <a:p>
            <a:r>
              <a:rPr sz="1200">
                <a:latin typeface="Montserrat"/>
              </a:rPr>
              <a:t>Пакеты: messages — интерфейс без Python-зависимостей, чтобы подключился любой потребитель.</a:t>
            </a:r>
          </a:p>
          <a:p>
            <a:r>
              <a:rPr sz="1200">
                <a:latin typeface="Montserrat"/>
              </a:rPr>
              <a:t>rail_guard — алгоритм отдельно от ROS, поэтому он тестируется и профилируется без транспорта.</a:t>
            </a:r>
          </a:p>
          <a:p>
            <a:r>
              <a:rPr sz="1200">
                <a:latin typeface="Montserrat"/>
              </a:rPr>
              <a:t>bringup — настройка под линию в YAML, а не в исходниках.</a:t>
            </a:r>
          </a:p>
          <a:p/>
          <a:p>
            <a:r>
              <a:rPr sz="1200">
                <a:latin typeface="Montserrat"/>
              </a:rPr>
              <a:t>ЕСЛИ СПРОСЯТ, ПОЧЕМУ ОДНА НОДА: разбиение по стадиям добавило бы две сериализации облака</a:t>
            </a:r>
          </a:p>
          <a:p>
            <a:r>
              <a:rPr sz="1200">
                <a:latin typeface="Montserrat"/>
              </a:rPr>
              <a:t>на триста тысяч точек в каждом кадре — это около половины бюджета реального времени.</a:t>
            </a:r>
          </a:p>
          <a:p>
            <a:r>
              <a:rPr sz="1200">
                <a:latin typeface="Montserrat"/>
              </a:rPr>
              <a:t>Промежуточные результаты при этом доступны снаружи параметром.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[4:20 · 30 с]</a:t>
            </a:r>
          </a:p>
          <a:p>
            <a:r>
              <a:rPr sz="1200">
                <a:latin typeface="Montserrat"/>
              </a:rPr>
              <a:t>Тракт обработки кадра. Двенадцать этапов, и на каждом точек меньше.</a:t>
            </a:r>
          </a:p>
          <a:p/>
          <a:p>
            <a:r>
              <a:rPr sz="1200">
                <a:latin typeface="Montserrat"/>
              </a:rPr>
              <a:t>Смотрите на воронку вверху: триста тысяч точек на входе, после фильтрации — двадцать-сорок</a:t>
            </a:r>
          </a:p>
          <a:p>
            <a:r>
              <a:rPr sz="1200">
                <a:latin typeface="Montserrat"/>
              </a:rPr>
              <a:t>тысяч, внутри габарита — около тысячи, после снятия шума и полотна — восемьсот,</a:t>
            </a:r>
          </a:p>
          <a:p>
            <a:r>
              <a:rPr sz="1200">
                <a:latin typeface="Montserrat"/>
              </a:rPr>
              <a:t>на выходе ноль-пять объектов.</a:t>
            </a:r>
          </a:p>
          <a:p/>
          <a:p>
            <a:r>
              <a:rPr sz="1200">
                <a:latin typeface="Montserrat"/>
              </a:rPr>
              <a:t>Смысл такой архитектуры: дорогие операции достаются только тем точкам, которые ещё могут</a:t>
            </a:r>
          </a:p>
          <a:p>
            <a:r>
              <a:rPr sz="1200">
                <a:latin typeface="Montserrat"/>
              </a:rPr>
              <a:t>оказаться помехой. Поэтому весь кадр укладывается в семьдесят три — восемьдесят четыре</a:t>
            </a:r>
          </a:p>
          <a:p>
            <a:r>
              <a:rPr sz="1200">
                <a:latin typeface="Montserrat"/>
              </a:rPr>
              <a:t>миллисекунды.</a:t>
            </a:r>
          </a:p>
          <a:p/>
          <a:p>
            <a:r>
              <a:rPr sz="1200">
                <a:latin typeface="Montserrat"/>
              </a:rPr>
              <a:t>Список этапов ниже — не зачитывать, он для тех, кто будет смотреть деку потом.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[4:50 · 40 с]</a:t>
            </a:r>
          </a:p>
          <a:p>
            <a:r>
              <a:rPr sz="1200">
                <a:latin typeface="Montserrat"/>
              </a:rPr>
              <a:t>Первый ключевой механизм — ось пути.</a:t>
            </a:r>
          </a:p>
          <a:p/>
          <a:p>
            <a:r>
              <a:rPr sz="1200">
                <a:latin typeface="Montserrat"/>
              </a:rPr>
              <a:t>Габарит имеет смысл только относительно того пути, по которому поезд реально поедет.</a:t>
            </a:r>
          </a:p>
          <a:p>
            <a:r>
              <a:rPr sz="1200">
                <a:latin typeface="Montserrat"/>
              </a:rPr>
              <a:t>«Прямо вперёд» — неверный ответ: в кривой радиусом двести пятьдесят метров ось уходит</a:t>
            </a:r>
          </a:p>
          <a:p>
            <a:r>
              <a:rPr sz="1200">
                <a:latin typeface="Montserrat"/>
              </a:rPr>
              <a:t>на десять метров вбок уже к семидесяти метрам.</a:t>
            </a:r>
          </a:p>
          <a:p/>
          <a:p>
            <a:r>
              <a:rPr sz="1200">
                <a:latin typeface="Montserrat"/>
              </a:rPr>
              <a:t>По рельсам мы видим ось до тридцати-сорока метров. Дальше головка рельса при скользящем</a:t>
            </a:r>
          </a:p>
          <a:p>
            <a:r>
              <a:rPr sz="1200">
                <a:latin typeface="Montserrat"/>
              </a:rPr>
              <a:t>угле почти не отражает.</a:t>
            </a:r>
          </a:p>
          <a:p>
            <a:r>
              <a:rPr sz="1200">
                <a:latin typeface="Montserrat"/>
              </a:rPr>
              <a:t>Дальше ось ведёт обделка — до восьмидесяти-ста десяти метров. Путь лежит в трубе</a:t>
            </a:r>
          </a:p>
          <a:p>
            <a:r>
              <a:rPr sz="1200">
                <a:latin typeface="Montserrat"/>
              </a:rPr>
              <a:t>с постоянным смещением, и это смещение мы измеряем там, где рельсы ещё видны.</a:t>
            </a:r>
          </a:p>
          <a:p>
            <a:r>
              <a:rPr sz="1200">
                <a:latin typeface="Montserrat"/>
              </a:rPr>
              <a:t>Экстраполяцией дуги тут пользоваться нельзя: ошибка растёт как s-квадрат на два эр,</a:t>
            </a:r>
          </a:p>
          <a:p>
            <a:r>
              <a:rPr sz="1200">
                <a:latin typeface="Montserrat"/>
              </a:rPr>
              <a:t>на сотне метров при радиусе четыреста это двенадцать метров — полтора тоннеля вбок.</a:t>
            </a:r>
          </a:p>
          <a:p/>
          <a:p>
            <a:r>
              <a:rPr sz="1200">
                <a:latin typeface="Montserrat"/>
              </a:rPr>
              <a:t>На картинке — сечения одного кадра. Красным габарит, зелёным уровень головок рельсов.</a:t>
            </a:r>
          </a:p>
          <a:p>
            <a:r>
              <a:rPr sz="1200">
                <a:latin typeface="Montserrat"/>
              </a:rPr>
              <a:t>На пятидесяти восьми — шестидесяти двух метрах экстраполяция уводит габарит на два и четыре</a:t>
            </a:r>
          </a:p>
          <a:p>
            <a:r>
              <a:rPr sz="1200">
                <a:latin typeface="Montserrat"/>
              </a:rPr>
              <a:t>метра в сторону, прямо на обделку. Без модели свободного места эта стена читается</a:t>
            </a:r>
          </a:p>
          <a:p>
            <a:r>
              <a:rPr sz="1200">
                <a:latin typeface="Montserrat"/>
              </a:rPr>
              <a:t>как объект в габарите. Вот об этом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[5:30 · 40 с]</a:t>
            </a:r>
          </a:p>
          <a:p>
            <a:r>
              <a:rPr sz="1200">
                <a:latin typeface="Montserrat"/>
              </a:rPr>
              <a:t>Второй механизм — что не является помехой.</a:t>
            </a:r>
          </a:p>
          <a:p/>
          <a:p>
            <a:r>
              <a:rPr sz="1200">
                <a:latin typeface="Montserrat"/>
              </a:rPr>
              <a:t>Главный источник ложных торможений в тоннеле — не шум и не слабые кластеры, а сама стена.</a:t>
            </a:r>
          </a:p>
          <a:p>
            <a:r>
              <a:rPr sz="1200">
                <a:latin typeface="Montserrat"/>
              </a:rPr>
              <a:t>На шестидесяти метрах от обделки приходит такой же десяток точек, как от человека.</a:t>
            </a:r>
          </a:p>
          <a:p/>
          <a:p>
            <a:r>
              <a:rPr sz="1200">
                <a:latin typeface="Montserrat"/>
              </a:rPr>
              <a:t>Решение слева. У стены есть свойство, которого нет у предмета: она — граница свободного</a:t>
            </a:r>
          </a:p>
          <a:p>
            <a:r>
              <a:rPr sz="1200">
                <a:latin typeface="Montserrat"/>
              </a:rPr>
              <a:t>пространства. Для каждой полосы дальности и каждого слоя высоты мы измеряем, как далеко</a:t>
            </a:r>
          </a:p>
          <a:p>
            <a:r>
              <a:rPr sz="1200">
                <a:latin typeface="Montserrat"/>
              </a:rPr>
              <a:t>вбок уходит свободное место. Границей считается только то, что непрерывно вдоль пути:</a:t>
            </a:r>
          </a:p>
          <a:p>
            <a:r>
              <a:rPr sz="1200">
                <a:latin typeface="Montserrat"/>
              </a:rPr>
              <a:t>обделка попадает почти в каждую полосу, предмет — в одну-две.</a:t>
            </a:r>
          </a:p>
          <a:p>
            <a:r>
              <a:rPr sz="1200">
                <a:latin typeface="Montserrat"/>
              </a:rPr>
              <a:t>И кластеру модель даёт одну величину — заход внутрь свободного места. Смотрите на диаграмму:</a:t>
            </a:r>
          </a:p>
          <a:p>
            <a:r>
              <a:rPr sz="1200">
                <a:latin typeface="Montserrat"/>
              </a:rPr>
              <a:t>у обделки и края платформы около нуля, у предмета в габарите — метры.</a:t>
            </a:r>
          </a:p>
          <a:p>
            <a:r>
              <a:rPr sz="1200">
                <a:latin typeface="Montserrat"/>
              </a:rPr>
              <a:t>Важно: модель строится по каждому кадру заново и не помнит предыдущих. Расширение перед</a:t>
            </a:r>
          </a:p>
          <a:p>
            <a:r>
              <a:rPr sz="1200">
                <a:latin typeface="Montserrat"/>
              </a:rPr>
              <a:t>платформой или гермозатвором не нужно «доучивать».</a:t>
            </a:r>
          </a:p>
          <a:p/>
          <a:p>
            <a:r>
              <a:rPr sz="1200">
                <a:latin typeface="Montserrat"/>
              </a:rPr>
              <a:t>Справа — восемь физических причин отбраковки. Каждая — это размер, высота или форма,</a:t>
            </a:r>
          </a:p>
          <a:p>
            <a:r>
              <a:rPr sz="1200">
                <a:latin typeface="Montserrat"/>
              </a:rPr>
              <a:t>а не обученный порог.</a:t>
            </a:r>
          </a:p>
          <a:p/>
          <a:p>
            <a:r>
              <a:rPr sz="1200">
                <a:latin typeface="Montserrat"/>
              </a:rPr>
              <a:t>ЕСЛИ БУДЕТ ВРЕМЯ: плюс линии вдоль пути. Три и больше кластера на одном смещении и одной</a:t>
            </a:r>
          </a:p>
          <a:p>
            <a:r>
              <a:rPr sz="1200">
                <a:latin typeface="Montserrat"/>
              </a:rPr>
              <a:t>высоте — это конструкция, а не предметы. Убирает одиннадцать процентов кластеров в коридоре.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[6:10 · 40 с]</a:t>
            </a:r>
          </a:p>
          <a:p>
            <a:r>
              <a:rPr sz="1200">
                <a:latin typeface="Montserrat"/>
              </a:rPr>
              <a:t>Третий механизм, и это главный результат, — дальность.</a:t>
            </a:r>
          </a:p>
          <a:p/>
          <a:p>
            <a:r>
              <a:rPr sz="1200">
                <a:latin typeface="Montserrat"/>
              </a:rPr>
              <a:t>Мы её не оценивали, мы её мерили. Подставляли цель в реальные кадры с физически корректной</a:t>
            </a:r>
          </a:p>
          <a:p>
            <a:r>
              <a:rPr sz="1200">
                <a:latin typeface="Montserrat"/>
              </a:rPr>
              <a:t>плотностью точек: число точек считается из измеренной плотности лучей и площади цели,</a:t>
            </a:r>
          </a:p>
          <a:p>
            <a:r>
              <a:rPr sz="1200">
                <a:latin typeface="Montserrat"/>
              </a:rPr>
              <a:t>цель затеняет фон и получает шум дальномера.</a:t>
            </a:r>
          </a:p>
          <a:p/>
          <a:p>
            <a:r>
              <a:rPr sz="1200">
                <a:latin typeface="Montserrat"/>
              </a:rPr>
              <a:t>Результат: устойчивое обнаружение человека выросло с шестидесяти до ста двадцати метров.</a:t>
            </a:r>
          </a:p>
          <a:p>
            <a:r>
              <a:rPr sz="1200">
                <a:latin typeface="Montserrat"/>
              </a:rPr>
              <a:t>Достоверный коридор габарита — с пятидесяти семи до ста тридцати пяти. Дальность команды</a:t>
            </a:r>
          </a:p>
          <a:p>
            <a:r>
              <a:rPr sz="1200">
                <a:latin typeface="Montserrat"/>
              </a:rPr>
              <a:t>торможения удвоилась — без новых датчиков и без внешних данных.</a:t>
            </a:r>
          </a:p>
          <a:p/>
          <a:p>
            <a:r>
              <a:rPr sz="1200">
                <a:latin typeface="Montserrat"/>
              </a:rPr>
              <a:t>На диаграмме серым — как было, малиновым — как стало. На ста метрах было ноль из шести</a:t>
            </a:r>
          </a:p>
          <a:p>
            <a:r>
              <a:rPr sz="1200">
                <a:latin typeface="Montserrat"/>
              </a:rPr>
              <a:t>опытов, стало четыре из шести.</a:t>
            </a:r>
          </a:p>
          <a:p/>
          <a:p>
            <a:r>
              <a:rPr sz="1200">
                <a:latin typeface="Montserrat"/>
              </a:rPr>
              <a:t>Справа — шесть причин, откуда взялись эти метры. Самая крупная: коридор вообще не строился</a:t>
            </a:r>
          </a:p>
          <a:p>
            <a:r>
              <a:rPr sz="1200">
                <a:latin typeface="Montserrat"/>
              </a:rPr>
              <a:t>дальше семидесяти пяти метров, хотя данные лидара доходят до ста шестидесяти. И ещё:</a:t>
            </a:r>
          </a:p>
          <a:p>
            <a:r>
              <a:rPr sz="1200">
                <a:latin typeface="Montserrat"/>
              </a:rPr>
              <a:t>прореживание перестало трогать дальнее поле — дальних точек стало втрое больше,</a:t>
            </a:r>
          </a:p>
          <a:p>
            <a:r>
              <a:rPr sz="1200">
                <a:latin typeface="Montserrat"/>
              </a:rPr>
              <a:t>тысяча двести тридцать три против четырёхсот восьми.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[6:50 · 35 с]</a:t>
            </a:r>
          </a:p>
          <a:p>
            <a:r>
              <a:rPr sz="1200">
                <a:latin typeface="Montserrat"/>
              </a:rPr>
              <a:t>Как из объекта получается команда.</a:t>
            </a:r>
          </a:p>
          <a:p/>
          <a:p>
            <a:r>
              <a:rPr sz="1200">
                <a:latin typeface="Montserrat"/>
              </a:rPr>
              <a:t>Решение принимается не по факту «объект есть», а сравнением дальности до него с тормозным</a:t>
            </a:r>
          </a:p>
          <a:p>
            <a:r>
              <a:rPr sz="1200">
                <a:latin typeface="Montserrat"/>
              </a:rPr>
              <a:t>путём на текущей скорости. Формула на слайде: время реакции плюс квадрат скорости</a:t>
            </a:r>
          </a:p>
          <a:p>
            <a:r>
              <a:rPr sz="1200">
                <a:latin typeface="Montserrat"/>
              </a:rPr>
              <a:t>на два замедления.</a:t>
            </a:r>
          </a:p>
          <a:p/>
          <a:p>
            <a:r>
              <a:rPr sz="1200">
                <a:latin typeface="Montserrat"/>
              </a:rPr>
              <a:t>Четыре состояния: свободен, внимание, служебное, экстренное.</a:t>
            </a:r>
          </a:p>
          <a:p/>
          <a:p>
            <a:r>
              <a:rPr sz="1200">
                <a:latin typeface="Montserrat"/>
              </a:rPr>
              <a:t>И отдельно — что мы сознательно НЕ тормозим.</a:t>
            </a:r>
          </a:p>
          <a:p>
            <a:r>
              <a:rPr sz="1200">
                <a:latin typeface="Montserrat"/>
              </a:rPr>
              <a:t>Объект, зашедший только в запас габарита: боковые двадцать пять сантиметров заложены</a:t>
            </a:r>
          </a:p>
          <a:p>
            <a:r>
              <a:rPr sz="1200">
                <a:latin typeface="Montserrat"/>
              </a:rPr>
              <a:t>на раскачку кузова, это не часть кузова.</a:t>
            </a:r>
          </a:p>
          <a:p>
            <a:r>
              <a:rPr sz="1200">
                <a:latin typeface="Montserrat"/>
              </a:rPr>
              <a:t>Трек, не сближающийся с поездом: неподвижный предмет обязан сокращать дальность ровно</a:t>
            </a:r>
          </a:p>
          <a:p>
            <a:r>
              <a:rPr sz="1200">
                <a:latin typeface="Montserrat"/>
              </a:rPr>
              <a:t>на пройденный путь. На одной записи семь из тринадцати долгих треков дальность не сокращали —</a:t>
            </a:r>
          </a:p>
          <a:p>
            <a:r>
              <a:rPr sz="1200">
                <a:latin typeface="Montserrat"/>
              </a:rPr>
              <a:t>предметами на пути они не были.</a:t>
            </a:r>
          </a:p>
          <a:p>
            <a:r>
              <a:rPr sz="1200">
                <a:latin typeface="Montserrat"/>
              </a:rPr>
              <a:t>Объект ниже кромки кузова: на десяти-двенадцати сантиметрах над уровнем головок рельсов</a:t>
            </a:r>
          </a:p>
          <a:p>
            <a:r>
              <a:rPr sz="1200">
                <a:latin typeface="Montserrat"/>
              </a:rPr>
              <a:t>лежат остряки стрелок и контррельсы — то, по чему поезд ездит.</a:t>
            </a:r>
          </a:p>
          <a:p/>
          <a:p>
            <a:r>
              <a:rPr sz="1200">
                <a:latin typeface="Montserrat"/>
              </a:rPr>
              <a:t>И важная деталь: задержка от съёмки кадра до команды — девяносто три миллисекунды — входит</a:t>
            </a:r>
          </a:p>
          <a:p>
            <a:r>
              <a:rPr sz="1200">
                <a:latin typeface="Montserrat"/>
              </a:rPr>
              <a:t>в расчёт тормозного пути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[7:25 · 25 с]</a:t>
            </a:r>
          </a:p>
          <a:p>
            <a:r>
              <a:rPr sz="1200">
                <a:latin typeface="Montserrat"/>
              </a:rPr>
              <a:t>Самокалибровка — то, ради чего всё затевалось.</a:t>
            </a:r>
          </a:p>
          <a:p/>
          <a:p>
            <a:r>
              <a:rPr sz="1200">
                <a:latin typeface="Montserrat"/>
              </a:rPr>
              <a:t>Слева — всё, что задаёт человек. Только физика из регламента линии: колея, междупутье,</a:t>
            </a:r>
          </a:p>
          <a:p>
            <a:r>
              <a:rPr sz="1200">
                <a:latin typeface="Montserrat"/>
              </a:rPr>
              <a:t>минимальный радиус, габарит состава, нижняя кромка кузова, замедления, размер минимального</a:t>
            </a:r>
          </a:p>
          <a:p>
            <a:r>
              <a:rPr sz="1200">
                <a:latin typeface="Montserrat"/>
              </a:rPr>
              <a:t>препятствия. Семнадцать строк.</a:t>
            </a:r>
          </a:p>
          <a:p/>
          <a:p>
            <a:r>
              <a:rPr sz="1200">
                <a:latin typeface="Montserrat"/>
              </a:rPr>
              <a:t>Справа — всё, что система измеряет сама по кадрам: ориентацию датчика, плотность лучей</a:t>
            </a:r>
          </a:p>
          <a:p>
            <a:r>
              <a:rPr sz="1200">
                <a:latin typeface="Montserrat"/>
              </a:rPr>
              <a:t>и дальнобойность, тип сцены, пороги числа точек, длину коридора, скорость и период кадров.</a:t>
            </a:r>
          </a:p>
          <a:p/>
          <a:p>
            <a:r>
              <a:rPr sz="1200">
                <a:latin typeface="Montserrat"/>
              </a:rPr>
              <a:t>Настройка, снятая с конкретного лидара и участка, на другом участке означает уже не то,</a:t>
            </a:r>
          </a:p>
          <a:p>
            <a:r>
              <a:rPr sz="1200">
                <a:latin typeface="Montserrat"/>
              </a:rPr>
              <a:t>ради чего её ставили. Поэтому мы её не снимаем — мы её выводим.</a:t>
            </a:r>
          </a:p>
          <a:p>
            <a:r>
              <a:rPr sz="1200">
                <a:latin typeface="Montserrat"/>
              </a:rPr>
              <a:t>Любое выведенное значение можно подавить, задав число вместо auto.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[7:50 · 25 с]</a:t>
            </a:r>
          </a:p>
          <a:p>
            <a:r>
              <a:rPr sz="1200">
                <a:latin typeface="Montserrat"/>
              </a:rPr>
              <a:t>Реальное время. Период лидара — сто миллисекунд, и тракт в него укладывается:</a:t>
            </a:r>
          </a:p>
          <a:p>
            <a:r>
              <a:rPr sz="1200">
                <a:latin typeface="Montserrat"/>
              </a:rPr>
              <a:t>семьдесят три — восемьдесят четыре миллисекунды на шестидесятичетырёхлучевом лидаре,</a:t>
            </a:r>
          </a:p>
          <a:p>
            <a:r>
              <a:rPr sz="1200">
                <a:latin typeface="Montserrat"/>
              </a:rPr>
              <a:t>девяносто девять — сто четыре на стодвадцативосьмилучевом.</a:t>
            </a:r>
          </a:p>
          <a:p/>
          <a:p>
            <a:r>
              <a:rPr sz="1200">
                <a:latin typeface="Montserrat"/>
              </a:rPr>
              <a:t>Слева бюджет по стадиям: серым как было, малиновым как стало. Самая дорогая стадия была</a:t>
            </a:r>
          </a:p>
          <a:p>
            <a:r>
              <a:rPr sz="1200">
                <a:latin typeface="Montserrat"/>
              </a:rPr>
              <a:t>не в тракте, а в разборе сообщения — раскладка по таблице вокселей вместо сортировки</a:t>
            </a:r>
          </a:p>
          <a:p>
            <a:r>
              <a:rPr sz="1200">
                <a:latin typeface="Montserrat"/>
              </a:rPr>
              <a:t>ключей дала двадцать один миллисекунду вместо тридцати пяти.</a:t>
            </a:r>
          </a:p>
          <a:p/>
          <a:p>
            <a:r>
              <a:rPr sz="1200">
                <a:latin typeface="Montserrat"/>
              </a:rPr>
              <a:t>Справа три механизма. Главный: потолок плотности не задан числом. Система сравнивает</a:t>
            </a:r>
          </a:p>
          <a:p>
            <a:r>
              <a:rPr sz="1200">
                <a:latin typeface="Montserrat"/>
              </a:rPr>
              <a:t>своё медианное время кадра с периодом лидара и, если не укладывается, уступает сначала</a:t>
            </a:r>
          </a:p>
          <a:p>
            <a:r>
              <a:rPr sz="1200">
                <a:latin typeface="Montserrat"/>
              </a:rPr>
              <a:t>плотность ближнего поля — там девяносто семь процентов точек, а дальность от них не зависит.</a:t>
            </a:r>
          </a:p>
          <a:p>
            <a:r>
              <a:rPr sz="1200">
                <a:latin typeface="Montserrat"/>
              </a:rPr>
              <a:t>И только когда прореживать нечего — дальность, шагами по десять метров и не ниже</a:t>
            </a:r>
          </a:p>
          <a:p>
            <a:r>
              <a:rPr sz="1200">
                <a:latin typeface="Montserrat"/>
              </a:rPr>
              <a:t>тормозного пути.</a:t>
            </a:r>
          </a:p>
          <a:p/>
          <a:p>
            <a:r>
              <a:rPr sz="1200">
                <a:latin typeface="Montserrat"/>
              </a:rPr>
              <a:t>И отказ видеокарты не останавливает поезд: любая ошибка переводит тракт на процессор</a:t>
            </a:r>
          </a:p>
          <a:p>
            <a:r>
              <a:rPr sz="1200">
                <a:latin typeface="Montserrat"/>
              </a:rPr>
              <a:t>навсегда, с записью причины. Повторных попыток нет — каждая стоила бы кадра.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[8:15 · 25 с]</a:t>
            </a:r>
          </a:p>
          <a:p>
            <a:r>
              <a:rPr sz="1200">
                <a:latin typeface="Montserrat"/>
              </a:rPr>
              <a:t>Результаты на записях метро. Шесть проездов, две тысячи четыреста восемьдесят восемь</a:t>
            </a:r>
          </a:p>
          <a:p>
            <a:r>
              <a:rPr sz="1200">
                <a:latin typeface="Montserrat"/>
              </a:rPr>
              <a:t>кадров, двадцать один и семь гигабайта. И один и тот же профиль на все записи — ни один</a:t>
            </a:r>
          </a:p>
          <a:p>
            <a:r>
              <a:rPr sz="1200">
                <a:latin typeface="Montserrat"/>
              </a:rPr>
              <a:t>параметр не подбирался под конкретный бэг, иначе мы измеряли бы подгонку.</a:t>
            </a:r>
          </a:p>
          <a:p/>
          <a:p>
            <a:r>
              <a:rPr sz="1200">
                <a:latin typeface="Montserrat"/>
              </a:rPr>
              <a:t>Доля кадров с ложным экстренным торможением — с пятнадцати процентов до одного.</a:t>
            </a:r>
          </a:p>
          <a:p>
            <a:r>
              <a:rPr sz="1200">
                <a:latin typeface="Montserrat"/>
              </a:rPr>
              <a:t>Доля кадров «путь свободен» — с сорока трёх до шестидесяти четырёх.</a:t>
            </a:r>
          </a:p>
          <a:p/>
          <a:p>
            <a:r>
              <a:rPr sz="1200">
                <a:latin typeface="Montserrat"/>
              </a:rPr>
              <a:t>И сразу честно, справа внизу: в записях нет эталонной разметки. Доля кадров с командой</a:t>
            </a:r>
          </a:p>
          <a:p>
            <a:r>
              <a:rPr sz="1200">
                <a:latin typeface="Montserrat"/>
              </a:rPr>
              <a:t>торможения — это поведение системы, а не метрика качества. Поэтому точность мы измерили</a:t>
            </a:r>
          </a:p>
          <a:p>
            <a:r>
              <a:rPr sz="1200">
                <a:latin typeface="Montserrat"/>
              </a:rPr>
              <a:t>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[8:40 · 30 с]</a:t>
            </a:r>
          </a:p>
          <a:p>
            <a:r>
              <a:rPr sz="1200">
                <a:latin typeface="Montserrat"/>
              </a:rPr>
              <a:t>Отдельно — на открытом датасете OSDaR23 с эталонной разметкой от DZSF и DB Netz.</a:t>
            </a:r>
          </a:p>
          <a:p/>
          <a:p>
            <a:r>
              <a:rPr sz="1200">
                <a:latin typeface="Montserrat"/>
              </a:rPr>
              <a:t>Первое: ноль команд торможения на тридцати кадрах трёх сцен, где путь свободен.</a:t>
            </a:r>
          </a:p>
          <a:p>
            <a:r>
              <a:rPr sz="1200">
                <a:latin typeface="Montserrat"/>
              </a:rPr>
              <a:t>Значит любая команда там была бы ложной — их нет.</a:t>
            </a:r>
          </a:p>
          <a:p/>
          <a:p>
            <a:r>
              <a:rPr sz="1200">
                <a:latin typeface="Montserrat"/>
              </a:rPr>
              <a:t>Второе, точность оси: на прямой и у платформы отклонение от размеченных рельсов —</a:t>
            </a:r>
          </a:p>
          <a:p>
            <a:r>
              <a:rPr sz="1200">
                <a:latin typeface="Montserrat"/>
              </a:rPr>
              <a:t>единицы сантиметров. В тугой кривой радиусом двести пятьдесят — растёт, и мы это не прячем.</a:t>
            </a:r>
          </a:p>
          <a:p/>
          <a:p>
            <a:r>
              <a:rPr sz="1200">
                <a:latin typeface="Montserrat"/>
              </a:rPr>
              <a:t>Третье, и это главный вывод для метрополитена: ось пути из путевой карты меняет всё.</a:t>
            </a:r>
          </a:p>
          <a:p>
            <a:r>
              <a:rPr sz="1200">
                <a:latin typeface="Montserrat"/>
              </a:rPr>
              <a:t>Смотрите нижнюю строку таблицы — с путевой картой команда торможения по человеку выдаётся</a:t>
            </a:r>
          </a:p>
          <a:p>
            <a:r>
              <a:rPr sz="1200">
                <a:latin typeface="Montserrat"/>
              </a:rPr>
              <a:t>до ста метров против шестидесяти при оси, оценённой по облаку. В метро геометрия маршрута</a:t>
            </a:r>
          </a:p>
          <a:p>
            <a:r>
              <a:rPr sz="1200">
                <a:latin typeface="Montserrat"/>
              </a:rPr>
              <a:t>известна заранее. Лидару остаётся её подтвердить, а не выводить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[9:10 · 20 с]</a:t>
            </a:r>
          </a:p>
          <a:p>
            <a:r>
              <a:rPr sz="1200">
                <a:latin typeface="Montserrat"/>
              </a:rPr>
              <a:t>Как это выглядит в работе. Слева вид сверху: красным ось пути и границы габарита, кружками —</a:t>
            </a:r>
          </a:p>
          <a:p>
            <a:r>
              <a:rPr sz="1200">
                <a:latin typeface="Montserrat"/>
              </a:rPr>
              <a:t>ячейки, где ось подтверждена рельсами. Справа то же самое в терминале — это то, что уходит</a:t>
            </a:r>
          </a:p>
          <a:p>
            <a:r>
              <a:rPr sz="1200">
                <a:latin typeface="Montserrat"/>
              </a:rPr>
              <a:t>в систему управления поездом.</a:t>
            </a:r>
          </a:p>
          <a:p/>
          <a:p>
            <a:r>
              <a:rPr sz="1200">
                <a:latin typeface="Montserrat"/>
              </a:rPr>
              <a:t>Обратите внимание на колонку «путь»: это дальность, на которой положение пути подтверждено.</a:t>
            </a:r>
          </a:p>
          <a:p>
            <a:r>
              <a:rPr sz="1200">
                <a:latin typeface="Montserrat"/>
              </a:rPr>
              <a:t>Именно она ограничивает, где система вправе требовать экстренного торможения.</a:t>
            </a:r>
          </a:p>
          <a:p/>
          <a:p>
            <a:r>
              <a:rPr sz="1200">
                <a:latin typeface="Montserrat"/>
              </a:rPr>
              <a:t>Видео работы на четырнадцать секунд собирается одним скриптом из результата того же пайплайна.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[9:30 · 20 с]</a:t>
            </a:r>
          </a:p>
          <a:p>
            <a:r>
              <a:rPr sz="1200">
                <a:latin typeface="Montserrat"/>
              </a:rPr>
              <a:t>Интеграция. Три топика, и сообщения самодостаточны: получатель принимает решение,</a:t>
            </a:r>
          </a:p>
          <a:p>
            <a:r>
              <a:rPr sz="1200">
                <a:latin typeface="Montserrat"/>
              </a:rPr>
              <a:t>не заглядывая в облако точек.</a:t>
            </a:r>
          </a:p>
          <a:p/>
          <a:p>
            <a:r>
              <a:rPr sz="1200">
                <a:latin typeface="Montserrat"/>
              </a:rPr>
              <a:t>gauge_status — само решение, дальность до ближайшей помехи, тормозной путь, допустимая</a:t>
            </a:r>
          </a:p>
          <a:p>
            <a:r>
              <a:rPr sz="1200">
                <a:latin typeface="Montserrat"/>
              </a:rPr>
              <a:t>скорость и человекочитаемое обоснование.</a:t>
            </a:r>
          </a:p>
          <a:p>
            <a:r>
              <a:rPr sz="1200">
                <a:latin typeface="Montserrat"/>
              </a:rPr>
              <a:t>obstacles — объекты с устойчивым id трека.</a:t>
            </a:r>
          </a:p>
          <a:p>
            <a:r>
              <a:rPr sz="1200">
                <a:latin typeface="Montserrat"/>
              </a:rPr>
              <a:t>track_corridor — ось и габарит в каждой точке, плюс дальность, до которой ось достоверна.</a:t>
            </a:r>
          </a:p>
          <a:p/>
          <a:p>
            <a:r>
              <a:rPr sz="1200">
                <a:latin typeface="Montserrat"/>
              </a:rPr>
              <a:t>Ключевое для внедрения: ObstacleArray переводится в стандартный vision_msgs один в один.</a:t>
            </a:r>
          </a:p>
          <a:p>
            <a:r>
              <a:rPr sz="1200">
                <a:latin typeface="Montserrat"/>
              </a:rPr>
              <a:t>Модуль встаёт в существующий бортовой пайплайн, а не заменяет 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[9:50 · 15 с]</a:t>
            </a:r>
          </a:p>
          <a:p>
            <a:r>
              <a:rPr sz="1200">
                <a:latin typeface="Montserrat"/>
              </a:rPr>
              <a:t>Воспроизводимость. Пятьдесят один тест прогоняется прямо при сборке образа — образ</a:t>
            </a:r>
          </a:p>
          <a:p>
            <a:r>
              <a:rPr sz="1200">
                <a:latin typeface="Montserrat"/>
              </a:rPr>
              <a:t>не соберётся, если тракт сломан.</a:t>
            </a:r>
          </a:p>
          <a:p/>
          <a:p>
            <a:r>
              <a:rPr sz="1200">
                <a:latin typeface="Montserrat"/>
              </a:rPr>
              <a:t>Девять скриптов измерения. Каждая цифра этой презентации воспроизводится одной командой.</a:t>
            </a:r>
          </a:p>
          <a:p>
            <a:r>
              <a:rPr sz="1200">
                <a:latin typeface="Montserrat"/>
              </a:rPr>
              <a:t>Это не про аккуратность — это единственный способ отличить работу алгоритма от подгонки</a:t>
            </a:r>
          </a:p>
          <a:p>
            <a:r>
              <a:rPr sz="1200">
                <a:latin typeface="Montserrat"/>
              </a:rPr>
              <a:t>под конкретную запись.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[10:05 · 30 с]</a:t>
            </a:r>
          </a:p>
          <a:p>
            <a:r>
              <a:rPr sz="1200">
                <a:latin typeface="Montserrat"/>
              </a:rPr>
              <a:t>Ограничения. Мы считаем это частью результата: система, о границах которой нельзя сказать</a:t>
            </a:r>
          </a:p>
          <a:p>
            <a:r>
              <a:rPr sz="1200">
                <a:latin typeface="Montserrat"/>
              </a:rPr>
              <a:t>вслух, в контур безопасности не ставится.</a:t>
            </a:r>
          </a:p>
          <a:p/>
          <a:p>
            <a:r>
              <a:rPr sz="1200">
                <a:latin typeface="Montserrat"/>
              </a:rPr>
              <a:t>Главное: долю ложных срабатываний измерить не удалось — в записях метро нет разметки.</a:t>
            </a:r>
          </a:p>
          <a:p>
            <a:r>
              <a:rPr sz="1200">
                <a:latin typeface="Montserrat"/>
              </a:rPr>
              <a:t>Нужна разметка хотя бы одного проезда.</a:t>
            </a:r>
          </a:p>
          <a:p>
            <a:r>
              <a:rPr sz="1200">
                <a:latin typeface="Montserrat"/>
              </a:rPr>
              <a:t>Тугая кривая без путевой карты: до шести и семи метров ошибки на семидесяти метрах.</a:t>
            </a:r>
          </a:p>
          <a:p>
            <a:r>
              <a:rPr sz="1200">
                <a:latin typeface="Montserrat"/>
              </a:rPr>
              <a:t>Механизм лечения уже в коде — нужна внешняя ось.</a:t>
            </a:r>
          </a:p>
          <a:p>
            <a:r>
              <a:rPr sz="1200">
                <a:latin typeface="Montserrat"/>
              </a:rPr>
              <a:t>Стрелка: выбор ветви по облаку точек однозначно не решается, нужна информация</a:t>
            </a:r>
          </a:p>
          <a:p>
            <a:r>
              <a:rPr sz="1200">
                <a:latin typeface="Montserrat"/>
              </a:rPr>
              <a:t>от системы централизации.</a:t>
            </a:r>
          </a:p>
          <a:p>
            <a:r>
              <a:rPr sz="1200">
                <a:latin typeface="Montserrat"/>
              </a:rPr>
              <a:t>Доля «внимания» высока — от десяти до девяноста трёх процентов по записям.</a:t>
            </a:r>
          </a:p>
          <a:p>
            <a:r>
              <a:rPr sz="1200">
                <a:latin typeface="Montserrat"/>
              </a:rPr>
              <a:t>Узкий груз вдоль пути система пропустит — это цена признака, который убирает кабельные лотки.</a:t>
            </a:r>
          </a:p>
          <a:p>
            <a:r>
              <a:rPr sz="1200">
                <a:latin typeface="Montserrat"/>
              </a:rPr>
              <a:t>И тоннельную часть мы проверили не на тоннеле: открытых лидарных записей из тоннелей метро</a:t>
            </a:r>
          </a:p>
          <a:p>
            <a:r>
              <a:rPr sz="1200">
                <a:latin typeface="Montserrat"/>
              </a:rPr>
              <a:t>в свободном доступе просто нет.</a:t>
            </a:r>
          </a:p>
          <a:p/>
          <a:p>
            <a:r>
              <a:rPr sz="1200">
                <a:latin typeface="Montserrat"/>
              </a:rPr>
              <a:t>Внизу — что мы откатили после замеров, потому что цифры стали хуже.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[10:35 · 30 с]</a:t>
            </a:r>
          </a:p>
          <a:p>
            <a:r>
              <a:rPr sz="1200">
                <a:latin typeface="Montserrat"/>
              </a:rPr>
              <a:t>Бизнесовая составляющая. Выгоду даёт не точность детектора, а то, что систему не нужно</a:t>
            </a:r>
          </a:p>
          <a:p>
            <a:r>
              <a:rPr sz="1200">
                <a:latin typeface="Montserrat"/>
              </a:rPr>
              <a:t>обучать заново.</a:t>
            </a:r>
          </a:p>
          <a:p/>
          <a:p>
            <a:r>
              <a:rPr sz="1200">
                <a:latin typeface="Montserrat"/>
              </a:rPr>
              <a:t>Смотрите верхний блок. Обучаемая детекция на каждой новой линии требует пяти шагов:</a:t>
            </a:r>
          </a:p>
          <a:p>
            <a:r>
              <a:rPr sz="1200">
                <a:latin typeface="Montserrat"/>
              </a:rPr>
              <a:t>проезды со съёмкой, разметка, обучение, валидация, развёртывание. У нас два: семнадцать</a:t>
            </a:r>
          </a:p>
          <a:p>
            <a:r>
              <a:rPr sz="1200">
                <a:latin typeface="Montserrat"/>
              </a:rPr>
              <a:t>строк профиля из регламента и docker run.</a:t>
            </a:r>
          </a:p>
          <a:p/>
          <a:p>
            <a:r>
              <a:rPr sz="1200">
                <a:latin typeface="Montserrat"/>
              </a:rPr>
              <a:t>Справа структура затрат — не денежная оценка, а форма кривой: у обучаемого подхода каждая</a:t>
            </a:r>
          </a:p>
          <a:p>
            <a:r>
              <a:rPr sz="1200">
                <a:latin typeface="Montserrat"/>
              </a:rPr>
              <a:t>новая линия стоит почти как первая, у нас — почти ничего.</a:t>
            </a:r>
          </a:p>
          <a:p/>
          <a:p>
            <a:r>
              <a:rPr sz="1200">
                <a:latin typeface="Montserrat"/>
              </a:rPr>
              <a:t>Три эффекта внизу: габарит проверяется десять раз в секунду без участия человека;</a:t>
            </a:r>
          </a:p>
          <a:p>
            <a:r>
              <a:rPr sz="1200">
                <a:latin typeface="Montserrat"/>
              </a:rPr>
              <a:t>простои линии — ложные экстренные с пятнадцати процентов до одного; стоимость владения —</a:t>
            </a:r>
          </a:p>
          <a:p>
            <a:r>
              <a:rPr sz="1200">
                <a:latin typeface="Montserrat"/>
              </a:rPr>
              <a:t>нет закупки и разметки датасетов и нечему устаревать.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[11:05 · 20 с]</a:t>
            </a:r>
          </a:p>
          <a:p>
            <a:r>
              <a:rPr sz="1200">
                <a:latin typeface="Montserrat"/>
              </a:rPr>
              <a:t>Развёртывание — три команды, и ничего настраивать не нужно.</a:t>
            </a:r>
          </a:p>
          <a:p/>
          <a:p>
            <a:r>
              <a:rPr sz="1200">
                <a:latin typeface="Montserrat"/>
              </a:rPr>
              <a:t>Собрать образ. Внутри всё окружение, при сборке прогоняется пятьдесят один тест.</a:t>
            </a:r>
          </a:p>
          <a:p>
            <a:r>
              <a:rPr sz="1200">
                <a:latin typeface="Montserrat"/>
              </a:rPr>
              <a:t>Проиграть запись — контейнер сам находит топик, ориентацию лидара, период кадров</a:t>
            </a:r>
          </a:p>
          <a:p>
            <a:r>
              <a:rPr sz="1200">
                <a:latin typeface="Montserrat"/>
              </a:rPr>
              <a:t>и скорость поезда.</a:t>
            </a:r>
          </a:p>
          <a:p>
            <a:r>
              <a:rPr sz="1200">
                <a:latin typeface="Montserrat"/>
              </a:rPr>
              <a:t>Или подключиться к живому лидару — тогда контейнер работает только обработчиком.</a:t>
            </a:r>
          </a:p>
          <a:p/>
          <a:p>
            <a:r>
              <a:rPr sz="1200">
                <a:latin typeface="Montserrat"/>
              </a:rPr>
              <a:t>От инженера нужен только каталог с записью.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[11:25 · 20 с]</a:t>
            </a:r>
          </a:p>
          <a:p>
            <a:r>
              <a:rPr sz="1200">
                <a:latin typeface="Montserrat"/>
              </a:rPr>
              <a:t>Соответствие требованиям задачи — девять пунктов, и под каждым конкретный код и конкретная</a:t>
            </a:r>
          </a:p>
          <a:p>
            <a:r>
              <a:rPr sz="1200">
                <a:latin typeface="Montserrat"/>
              </a:rPr>
              <a:t>цифра, а не намерение.</a:t>
            </a:r>
          </a:p>
          <a:p/>
          <a:p>
            <a:r>
              <a:rPr sz="1200">
                <a:latin typeface="Montserrat"/>
              </a:rPr>
              <a:t>Не зачитывать все. Назвать три: реальное время — семьдесят три миллисекунды;</a:t>
            </a:r>
          </a:p>
          <a:p>
            <a:r>
              <a:rPr sz="1200">
                <a:latin typeface="Montserrat"/>
              </a:rPr>
              <a:t>ложные срабатывания — с пятнадцати процентов до одного и ноль на размеченном датасете;</a:t>
            </a:r>
          </a:p>
          <a:p>
            <a:r>
              <a:rPr sz="1200">
                <a:latin typeface="Montserrat"/>
              </a:rPr>
              <a:t>обобщаемость — семнадцать строк физики.</a:t>
            </a:r>
          </a:p>
          <a:p/>
          <a:p>
            <a:r>
              <a:rPr sz="1200">
                <a:latin typeface="Montserrat"/>
              </a:rPr>
              <a:t>И красная плашка справа внизу: девять из девяти закрыты кодом, а не намерением —</a:t>
            </a:r>
          </a:p>
          <a:p>
            <a:r>
              <a:rPr sz="1200">
                <a:latin typeface="Montserrat"/>
              </a:rPr>
              <a:t>каждый пункт подтверждается прогоном, который воспроизводится одной командой.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[11:45 · 20 с]</a:t>
            </a:r>
          </a:p>
          <a:p>
            <a:r>
              <a:rPr sz="1200">
                <a:latin typeface="Montserrat"/>
              </a:rPr>
              <a:t>Куда это растёт. Четыре направления, и каждое уже измерено.</a:t>
            </a:r>
          </a:p>
          <a:p/>
          <a:p>
            <a:r>
              <a:rPr sz="1200">
                <a:latin typeface="Montserrat"/>
              </a:rPr>
              <a:t>Первое и самое дешёвое — ось пути из путевой карты метрополитена. Геометрия маршрута</a:t>
            </a:r>
          </a:p>
          <a:p>
            <a:r>
              <a:rPr sz="1200">
                <a:latin typeface="Montserrat"/>
              </a:rPr>
              <a:t>известна заранее, механизм в коде уже есть, нужны данные линии. Эффект измерен:</a:t>
            </a:r>
          </a:p>
          <a:p>
            <a:r>
              <a:rPr sz="1200">
                <a:latin typeface="Montserrat"/>
              </a:rPr>
              <a:t>торможение по человеку до ста метров вместо шестидесяти.</a:t>
            </a:r>
          </a:p>
          <a:p>
            <a:r>
              <a:rPr sz="1200">
                <a:latin typeface="Montserrat"/>
              </a:rPr>
              <a:t>Второе — разметка хотя бы одного проезда: только так «поведение системы» превращается</a:t>
            </a:r>
          </a:p>
          <a:p>
            <a:r>
              <a:rPr sz="1200">
                <a:latin typeface="Montserrat"/>
              </a:rPr>
              <a:t>в измеримую долю ложных срабатываний.</a:t>
            </a:r>
          </a:p>
          <a:p>
            <a:r>
              <a:rPr sz="1200">
                <a:latin typeface="Montserrat"/>
              </a:rPr>
              <a:t>Третье — совместная работа с камерой и радаром: для восьмидесяти километров в час нужен</a:t>
            </a:r>
          </a:p>
          <a:p>
            <a:r>
              <a:rPr sz="1200">
                <a:latin typeface="Montserrat"/>
              </a:rPr>
              <a:t>обзор порядка двухсот метров, одним лидаром туда не дотянуться.</a:t>
            </a:r>
          </a:p>
          <a:p>
            <a:r>
              <a:rPr sz="1200">
                <a:latin typeface="Montserrat"/>
              </a:rPr>
              <a:t>Четвёртое — ускорение под стендовое железо.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ontserrat"/>
              </a:rPr>
              <a:t>[12:05 · 20 с]</a:t>
            </a:r>
          </a:p>
          <a:p>
            <a:r>
              <a:rPr sz="1200">
                <a:latin typeface="Montserrat"/>
              </a:rPr>
              <a:t>Итог.</a:t>
            </a:r>
          </a:p>
          <a:p/>
          <a:p>
            <a:r>
              <a:rPr sz="1200">
                <a:latin typeface="Montserrat"/>
              </a:rPr>
              <a:t>Система отвечает на один вопрос, который нужен беспилотному поезду: есть ли впереди что-то,</a:t>
            </a:r>
          </a:p>
          <a:p>
            <a:r>
              <a:rPr sz="1200">
                <a:latin typeface="Montserrat"/>
              </a:rPr>
              <a:t>чего там быть не должно, и на каком расстоянии.</a:t>
            </a:r>
          </a:p>
          <a:p/>
          <a:p>
            <a:r>
              <a:rPr sz="1200">
                <a:latin typeface="Montserrat"/>
              </a:rPr>
              <a:t>Мы не учили её узнавать препятствия — мы описали нормальный тоннель. Поэтому она работает</a:t>
            </a:r>
          </a:p>
          <a:p>
            <a:r>
              <a:rPr sz="1200">
                <a:latin typeface="Montserrat"/>
              </a:rPr>
              <a:t>на записи, которую видит впервые, и честно говорит, где её дальности не хватает.</a:t>
            </a:r>
          </a:p>
          <a:p/>
          <a:p>
            <a:r>
              <a:rPr sz="1200">
                <a:latin typeface="Montserrat"/>
              </a:rPr>
              <a:t>Сто двадцать метров до человека в габарите. Один процент ложных экстренных.</a:t>
            </a:r>
          </a:p>
          <a:p>
            <a:r>
              <a:rPr sz="1200">
                <a:latin typeface="Montserrat"/>
              </a:rPr>
              <a:t>Семьдесят три — сто четыре миллисекунды на кадр. Семнадцать строк настройки на новую линию.</a:t>
            </a:r>
          </a:p>
          <a:p/>
          <a:p>
            <a:r>
              <a:rPr sz="1200">
                <a:latin typeface="Montserrat"/>
              </a:rPr>
              <a:t>Спасибо.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25.09.2026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25.09.2026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25.09.2026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25.09.2026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25.09.2026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25.09.2026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83937"/>
            <a:ext cx="6998328" cy="1717319"/>
          </a:xfrm>
        </p:spPr>
        <p:txBody>
          <a:bodyPr/>
          <a:lstStyle/>
          <a:p>
            <a:pPr marL="268288" indent="0"/>
            <a:r>
              <a:rPr lang="ru-RU" sz="4800" dirty="0"/>
              <a:t>Слепой машинист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/>
              <a:t>Задача №5 Система обнаружения посторонних объектов для беспилотных поездов в тоннеле метро по данным 3</a:t>
            </a:r>
            <a:r>
              <a:rPr lang="en-US" dirty="0"/>
              <a:t>D-</a:t>
            </a:r>
            <a:r>
              <a:rPr lang="ru-RU" dirty="0" err="1"/>
              <a:t>лидара</a:t>
            </a:r>
            <a:r>
              <a:rPr lang="ru-RU" dirty="0"/>
              <a:t> 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6FEBED15-93DA-A279-E6F2-FB34ABFBB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34" y="190532"/>
            <a:ext cx="3900933" cy="106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5020432" cy="15841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Размеченных препятствий в тоннеле нет и учить нечему — зато сам тоннель предельно регулярен. Рельсы задают ось пути, ось — габарит, обделка — границу свободного места. Все признаки геометрические, ни один не требует обучающих данных и все переносятся на незнакомую запись.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Фалалеев Александр,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1" u="sng" dirty="0">
                <a:solidFill>
                  <a:schemeClr val="tx1"/>
                </a:solidFill>
              </a:rPr>
              <a:t> </a:t>
            </a:r>
            <a:r>
              <a:rPr lang="ru-RU" u="sng" dirty="0">
                <a:solidFill>
                  <a:schemeClr val="tx1"/>
                </a:solidFill>
              </a:rPr>
              <a:t>4 </a:t>
            </a:r>
            <a:r>
              <a:rPr lang="ru-RU" dirty="0">
                <a:solidFill>
                  <a:schemeClr val="tx1"/>
                </a:solidFill>
              </a:rPr>
              <a:t>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Саратовская область г. Саратов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Команда</a:t>
            </a:r>
            <a:r>
              <a:rPr lang="en-US" sz="2400" dirty="0">
                <a:solidFill>
                  <a:schemeClr val="accent5"/>
                </a:solidFill>
                <a:latin typeface="+mn-lt"/>
              </a:rPr>
              <a:t>:</a:t>
            </a:r>
            <a:br>
              <a:rPr lang="en-US" sz="2400" dirty="0">
                <a:solidFill>
                  <a:schemeClr val="accent5"/>
                </a:solidFill>
                <a:latin typeface="+mn-lt"/>
              </a:rPr>
            </a:br>
            <a:r>
              <a:rPr lang="en-US" sz="2400" dirty="0">
                <a:solidFill>
                  <a:schemeClr val="accent5"/>
                </a:solidFill>
                <a:latin typeface="+mn-lt"/>
              </a:rPr>
              <a:t>”</a:t>
            </a:r>
            <a:r>
              <a:rPr lang="ru-RU" sz="2400" dirty="0">
                <a:solidFill>
                  <a:schemeClr val="accent5"/>
                </a:solidFill>
                <a:latin typeface="+mn-lt"/>
              </a:rPr>
              <a:t>Слепой машинист</a:t>
            </a:r>
            <a:r>
              <a:rPr lang="en-US" sz="2400" dirty="0">
                <a:solidFill>
                  <a:schemeClr val="accent5"/>
                </a:solidFill>
                <a:latin typeface="+mn-lt"/>
              </a:rPr>
              <a:t>”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88140" cy="171411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err="1">
                <a:solidFill>
                  <a:schemeClr val="tx1"/>
                </a:solidFill>
              </a:rPr>
              <a:t>MetroGuarder — модуль на ROS 2 Humble в Docker-контейнере. Вместо нейросетей — геометрия: система строит модель нормального тоннеля и в каждом кадре ищет то, что в неё не укладывается. Человек в габарите обнаруживается до 120 м, решение по габариту выдаётся 10 раз в секунду.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225728" y="1518897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3377417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340642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Фалалеев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Александр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065391" y="1518897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6214571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6214570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err="1">
                <a:solidFill>
                  <a:schemeClr val="accent5"/>
                </a:solidFill>
              </a:rPr>
              <a:t>Аршаев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Шамиль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022047" y="1518897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17122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17122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Фламин 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Илья</a:t>
            </a:r>
          </a:p>
          <a:p>
            <a:pPr marL="0" indent="0">
              <a:buNone/>
            </a:pP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69180" y="1518897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4" y="324562"/>
            <a:ext cx="453374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4361458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</a:t>
            </a:r>
            <a:r>
              <a:rPr lang="en-US" dirty="0">
                <a:latin typeface="+mn-lt"/>
              </a:rPr>
              <a:t>: “</a:t>
            </a:r>
            <a:r>
              <a:rPr lang="ru-RU" dirty="0">
                <a:latin typeface="+mn-lt"/>
              </a:rPr>
              <a:t>Слепой машинист</a:t>
            </a:r>
            <a:r>
              <a:rPr lang="en-US" dirty="0">
                <a:latin typeface="+mn-lt"/>
              </a:rPr>
              <a:t>”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95503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5370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err="1">
                <a:solidFill>
                  <a:schemeClr val="accent5"/>
                </a:solidFill>
              </a:rPr>
              <a:t>Пузанёв</a:t>
            </a:r>
            <a:r>
              <a:rPr lang="ru-RU" sz="1600" b="1" dirty="0">
                <a:solidFill>
                  <a:schemeClr val="accent5"/>
                </a:solidFill>
              </a:rPr>
              <a:t> 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Вячеслав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6" y="1602274"/>
            <a:ext cx="5858141" cy="12338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Мы — сплоченная команда инженеров, специализирующаяся на ROS 2 и 3D Point </a:t>
            </a:r>
            <a:r>
              <a:rPr lang="ru-RU" dirty="0" err="1">
                <a:solidFill>
                  <a:schemeClr val="tx1"/>
                </a:solidFill>
              </a:rPr>
              <a:t>Cloud</a:t>
            </a:r>
            <a:r>
              <a:rPr lang="ru-RU" dirty="0">
                <a:solidFill>
                  <a:schemeClr val="tx1"/>
                </a:solidFill>
              </a:rPr>
              <a:t>. Объединив опыт в робототехнике и анализе данных, мы успешно участвовали в профильных </a:t>
            </a:r>
            <a:r>
              <a:rPr lang="ru-RU" dirty="0" err="1">
                <a:solidFill>
                  <a:schemeClr val="tx1"/>
                </a:solidFill>
              </a:rPr>
              <a:t>хакатонах</a:t>
            </a:r>
            <a:r>
              <a:rPr lang="ru-RU" dirty="0">
                <a:solidFill>
                  <a:schemeClr val="tx1"/>
                </a:solidFill>
              </a:rPr>
              <a:t>, где создавали системы навигации для беспилотников.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4"/>
            <a:ext cx="7460603" cy="12689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Главный вызов — сильные шумы </a:t>
            </a:r>
            <a:r>
              <a:rPr lang="ru-RU" dirty="0" err="1">
                <a:solidFill>
                  <a:schemeClr val="tx1"/>
                </a:solidFill>
              </a:rPr>
              <a:t>лидара</a:t>
            </a:r>
            <a:r>
              <a:rPr lang="ru-RU" dirty="0">
                <a:solidFill>
                  <a:schemeClr val="tx1"/>
                </a:solidFill>
              </a:rPr>
              <a:t> и нехватка данных для обучения нейросетей. Мы преодолели это, перейдя от классического ML к геометрическому анализу аномалий, который эффективно отсекает рельсы и кабели.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Беспилотное метро — это передний край технологий. Нас вдохновила возможность решить критически важную проблему безопасности пассажиров и создать алгоритм, способный работать в сложнейших условиях подземных тоннелей.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59851" y="1667915"/>
            <a:ext cx="5212760" cy="4865523"/>
          </a:xfrm>
        </p:spPr>
        <p:txBody>
          <a:bodyPr>
            <a:normAutofit/>
          </a:bodyPr>
          <a:lstStyle/>
          <a:p>
            <a:r>
              <a:rPr lang="ru-RU" sz="1800" dirty="0">
                <a:solidFill>
                  <a:schemeClr val="tx1"/>
                </a:solidFill>
              </a:rPr>
              <a:t>Комплекс на ROS 2 Humble в Docker принимает поток 3D-лидара (10 Гц) и выдаёт решение по габариту, список препятствий и дальность до ближайшей помехи, строя ось пути и коридор габарита чисто геометрически — без обучения и разметки.</a:t>
            </a:r>
          </a:p>
          <a:p>
            <a:r>
              <a:rPr lang="ru-RU" sz="1800" dirty="0">
                <a:solidFill>
                  <a:schemeClr val="tx1"/>
                </a:solidFill>
              </a:rPr>
              <a:t>Кадр обрабатывается за 73-104 мс с ускорением на видеокарте, а полная задержка «съёмка → команда» измеряется и входит в расчёт тормозного пути.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72358" y="1654465"/>
            <a:ext cx="4957144" cy="4989491"/>
          </a:xfrm>
        </p:spPr>
        <p:txBody>
          <a:bodyPr>
            <a:normAutofit/>
          </a:bodyPr>
          <a:lstStyle/>
          <a:p>
            <a:r>
              <a:rPr lang="ru-RU" sz="1800" dirty="0">
                <a:solidFill>
                  <a:schemeClr val="tx1"/>
                </a:solidFill>
              </a:rPr>
              <a:t>Продукт автономен: без облака, без разметки, разворачивается и обновляется одной командой в Docker — и переносится на новую линию, перегон или другой датчик правкой 17 строк регламента, без сбора датасета и переобучения.</a:t>
            </a:r>
          </a:p>
          <a:p>
            <a:r>
              <a:rPr lang="ru-RU" sz="1800" dirty="0">
                <a:solidFill>
                  <a:schemeClr val="tx1"/>
                </a:solidFill>
              </a:rPr>
              <a:t>Свойства лидара, тип сечения и все пороги детекции система измеряет по самим кадрам, что снижает стоимость внедрения и поддержки.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01301" y="1256049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294441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167128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О чём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Обязательные слайды позади.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Дальше — решение: как устроено, что измерено и чем подтверждено.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920240"/>
            <a:ext cx="362102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221284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6656" y="23591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90779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Задача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и подход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920240"/>
            <a:ext cx="362102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90288" y="221284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0" y="23591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0779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Архитектура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и тракт кадра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920240"/>
            <a:ext cx="362102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485632" y="221284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67344" y="23591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90779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Ключевые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механизмы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977639"/>
            <a:ext cx="362102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94944" y="427024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6656" y="44165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96519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Измеренные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результаты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977639"/>
            <a:ext cx="362102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90288" y="427024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0" y="44165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6519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Интеграция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и тесты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3977639"/>
            <a:ext cx="362102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485632" y="427024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67344" y="44165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0053"/>
                </a:solidFill>
                <a:latin typeface="Montserrat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96519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Ограничения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1D22"/>
                </a:solidFill>
                <a:latin typeface="Montserrat"/>
              </a:rPr>
              <a:t>и развитие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1289304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Поезд на 14.7 м/с останавливается за 92 метра.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Что не увидено заранее — для него не существует.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554480"/>
            <a:ext cx="114300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1225296" y="2926080"/>
            <a:ext cx="10076688" cy="0"/>
          </a:xfrm>
          <a:prstGeom prst="line">
            <a:avLst/>
          </a:prstGeom>
          <a:ln w="12700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25296" y="2926080"/>
            <a:ext cx="0" cy="91440"/>
          </a:xfrm>
          <a:prstGeom prst="line">
            <a:avLst/>
          </a:prstGeom>
          <a:ln w="12700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5256" y="305409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0 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4468" y="2926080"/>
            <a:ext cx="0" cy="91440"/>
          </a:xfrm>
          <a:prstGeom prst="line">
            <a:avLst/>
          </a:prstGeom>
          <a:ln w="12700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4427" y="305409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40 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2926080"/>
            <a:ext cx="0" cy="91440"/>
          </a:xfrm>
          <a:prstGeom prst="line">
            <a:avLst/>
          </a:prstGeom>
          <a:ln w="12700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0" y="305409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80 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301984" y="2926080"/>
            <a:ext cx="0" cy="91440"/>
          </a:xfrm>
          <a:prstGeom prst="line">
            <a:avLst/>
          </a:prstGeom>
          <a:ln w="12700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81944" y="3054096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160 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5296" y="2359152"/>
            <a:ext cx="3778757" cy="137160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95493" y="226771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6C75"/>
                </a:solidFill>
                <a:latin typeface="Montserrat"/>
              </a:rPr>
              <a:t>было 60 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5296" y="2596896"/>
            <a:ext cx="7557515" cy="17373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74251" y="252374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Montserrat"/>
              </a:rPr>
              <a:t>стало 120 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19391" y="2057400"/>
            <a:ext cx="0" cy="914400"/>
          </a:xfrm>
          <a:prstGeom prst="line">
            <a:avLst/>
          </a:prstGeom>
          <a:ln w="19050">
            <a:solidFill>
              <a:srgbClr val="520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67831" y="181051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тормозной путь 92 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2615184"/>
            <a:ext cx="530352" cy="329184"/>
          </a:xfrm>
          <a:prstGeom prst="roundRect">
            <a:avLst>
              <a:gd name="adj" fmla="val 25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Montserrat"/>
              </a:rPr>
              <a:t>поезд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4251" y="277977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запас 28 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3858768"/>
            <a:ext cx="2706624" cy="19385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03503" y="405993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3503" y="4224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D22"/>
                </a:solidFill>
                <a:latin typeface="Montserrat"/>
              </a:rPr>
              <a:t>Учить нечему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3" y="4681728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C75"/>
                </a:solidFill>
                <a:latin typeface="Montserrat"/>
              </a:rPr>
              <a:t>Тоннель почти всегда пуст: размеченных примеров нет и взять их негде.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858768"/>
            <a:ext cx="2706624" cy="19385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11296" y="405993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11296" y="4224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D22"/>
                </a:solidFill>
                <a:latin typeface="Montserrat"/>
              </a:rPr>
              <a:t>14 отражений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4681728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C75"/>
                </a:solidFill>
                <a:latin typeface="Montserrat"/>
              </a:rPr>
              <a:t>Столько даёт человек на 100 м — по одному кадру это группы в 2-3 точки.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3858768"/>
            <a:ext cx="2706624" cy="19385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419088" y="405993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19088" y="4224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D22"/>
                </a:solidFill>
                <a:latin typeface="Montserrat"/>
              </a:rPr>
              <a:t>Стена = объект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681728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C75"/>
                </a:solidFill>
                <a:latin typeface="Montserrat"/>
              </a:rPr>
              <a:t>Контактный рельс, лотки и обделка штатно стоят внутри габарита.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07424" y="3858768"/>
            <a:ext cx="2706624" cy="19385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326880" y="405993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326880" y="4224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D22"/>
                </a:solidFill>
                <a:latin typeface="Montserrat"/>
              </a:rPr>
              <a:t>Цена ошибки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681728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C75"/>
                </a:solidFill>
                <a:latin typeface="Montserrat"/>
              </a:rPr>
              <a:t>Ложное экстренное торможение — остановка всей линии.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Отсюда выведено всё остальное: </a:t>
            </a:r>
            <a:r>
              <a:rPr sz="800" b="0">
                <a:solidFill>
                  <a:srgbClr val="6B6C75"/>
                </a:solidFill>
                <a:latin typeface="Montserrat"/>
              </a:rPr>
              <a:t>дальность важнее точности, а ложная тревога дороже пропуска редкого слабого кластера.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313432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Ключевая 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05840"/>
            <a:ext cx="11430000" cy="1024128"/>
          </a:xfrm>
          <a:prstGeom prst="round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Мы не учим систему узнавать препятствия — 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D6E3"/>
                </a:solidFill>
                <a:latin typeface="Montserrat"/>
              </a:rPr>
              <a:t>мы описываем нормальный тоннель.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2304288"/>
            <a:ext cx="3675887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Рельсы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задают ось пути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82112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B6C75"/>
                </a:solidFill>
                <a:latin typeface="Montserrat"/>
              </a:rPr>
              <a:t>Два бугра на полшага колеи и провал между ними — форма видна там, где сами рельсы уже не разрешаются.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398264"/>
            <a:ext cx="164592" cy="45720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52144" y="4361688"/>
            <a:ext cx="164592" cy="8229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389888" y="4169664"/>
            <a:ext cx="164592" cy="27432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627632" y="4096512"/>
            <a:ext cx="164592" cy="34747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865376" y="4187952"/>
            <a:ext cx="164592" cy="25603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103120" y="4343400"/>
            <a:ext cx="164592" cy="10058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340864" y="4187952"/>
            <a:ext cx="164592" cy="25603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578608" y="4096512"/>
            <a:ext cx="164592" cy="34747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816352" y="4169664"/>
            <a:ext cx="164592" cy="27432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054096" y="4361688"/>
            <a:ext cx="164592" cy="8229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291840" y="4398264"/>
            <a:ext cx="164592" cy="45720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841247" y="4443984"/>
            <a:ext cx="2834640" cy="0"/>
          </a:xfrm>
          <a:prstGeom prst="line">
            <a:avLst/>
          </a:prstGeom>
          <a:ln w="9525">
            <a:solidFill>
              <a:srgbClr val="A8A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49884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A9B0"/>
                </a:solidFill>
                <a:latin typeface="Montserrat"/>
              </a:rPr>
              <a:t>бугор · провал · бугор — шаблон сечения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96511" y="3474720"/>
            <a:ext cx="164592" cy="0"/>
          </a:xfrm>
          <a:prstGeom prst="line">
            <a:avLst/>
          </a:prstGeom>
          <a:ln w="1905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79392" y="2304288"/>
            <a:ext cx="3675887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35424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Ось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2834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задаёт габарит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182112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B6C75"/>
                </a:solidFill>
                <a:latin typeface="Montserrat"/>
              </a:rPr>
              <a:t>Габарит протягивается вдоль оси: полуширина кузова, запас на раскачку, вынос в кривой.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3968496"/>
            <a:ext cx="2834640" cy="475488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4736592" y="3968496"/>
            <a:ext cx="2834639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736592" y="4443984"/>
            <a:ext cx="2834639" cy="0"/>
          </a:xfrm>
          <a:prstGeom prst="line">
            <a:avLst/>
          </a:prstGeom>
          <a:ln w="15875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36592" y="4206240"/>
            <a:ext cx="2834639" cy="0"/>
          </a:xfrm>
          <a:prstGeom prst="line">
            <a:avLst/>
          </a:prstGeom>
          <a:ln w="2222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53712" y="449884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A9B0"/>
                </a:solidFill>
                <a:latin typeface="Montserrat"/>
              </a:rPr>
              <a:t>ось · полуширина кузова · запас на раскачку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101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2304288"/>
            <a:ext cx="3675887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30767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Обделка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7" y="2834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задаёт границу свободного места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7" y="3182112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B6C75"/>
                </a:solidFill>
                <a:latin typeface="Montserrat"/>
              </a:rPr>
              <a:t>У предмета заход внутрь свободного места — метры, у обделки — около нуля.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69096" y="3931920"/>
            <a:ext cx="2468880" cy="512064"/>
          </a:xfrm>
          <a:prstGeom prst="roundRect">
            <a:avLst>
              <a:gd name="adj" fmla="val 42000"/>
            </a:avLst>
          </a:prstGeom>
          <a:solidFill>
            <a:srgbClr val="F2F3F5"/>
          </a:solidFill>
          <a:ln w="22225">
            <a:solidFill>
              <a:srgbClr val="6B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729216" y="4041648"/>
            <a:ext cx="548640" cy="365760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323576" y="40965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0053"/>
                </a:solidFill>
                <a:latin typeface="Montserrat"/>
              </a:rPr>
              <a:t>габарит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49884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8A9B0"/>
                </a:solidFill>
                <a:latin typeface="Montserrat"/>
              </a:rPr>
              <a:t>свободное место тоннеля — и габарит внутри него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892040"/>
            <a:ext cx="114300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40080" y="5120640"/>
            <a:ext cx="2468880" cy="54864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в габарите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7248" y="517550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53"/>
                </a:solidFill>
                <a:latin typeface="Montserrat"/>
              </a:rPr>
              <a:t>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5120640"/>
            <a:ext cx="2926080" cy="54864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не граница свободного места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517550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53"/>
                </a:solidFill>
                <a:latin typeface="Montserrat"/>
              </a:rPr>
              <a:t>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512064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приближается со скоростью поезда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3536" y="5175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53"/>
                </a:solidFill>
                <a:latin typeface="Montserrat"/>
              </a:rPr>
              <a:t>=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32720" y="5120640"/>
            <a:ext cx="1325880" cy="54864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ПОМЕХА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Все три признака геометрические. </a:t>
            </a:r>
            <a:r>
              <a:rPr sz="800" b="0">
                <a:solidFill>
                  <a:srgbClr val="6B6C75"/>
                </a:solidFill>
                <a:latin typeface="Montserrat"/>
              </a:rPr>
              <a:t>Ни одного обучающего примера, ни одной настройки, снятой с конкретной записи.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020824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Три пакета ROS 2, одна нода реального времени.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Алгоритм отделён от транспорта, настройка линии — от кода.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627632"/>
            <a:ext cx="2331720" cy="22128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Источник облака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965960" cy="420624"/>
          </a:xfrm>
          <a:prstGeom prst="roundRect">
            <a:avLst>
              <a:gd name="adj" fmla="val 2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C1D22"/>
                </a:solidFill>
                <a:latin typeface="Montserrat"/>
              </a:rPr>
              <a:t>ros2 bag 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24328"/>
            <a:ext cx="1965960" cy="420624"/>
          </a:xfrm>
          <a:prstGeom prst="roundRect">
            <a:avLst>
              <a:gd name="adj" fmla="val 2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C1D22"/>
                </a:solidFill>
                <a:latin typeface="Montserrat"/>
              </a:rPr>
              <a:t>драйвер лидара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C1D22"/>
                </a:solidFill>
                <a:latin typeface="Montserrat"/>
              </a:rPr>
              <a:t>на поезде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27248"/>
            <a:ext cx="1965960" cy="420624"/>
          </a:xfrm>
          <a:prstGeom prst="roundRect">
            <a:avLst>
              <a:gd name="adj" fmla="val 2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C1D22"/>
                </a:solidFill>
                <a:latin typeface="Montserrat"/>
              </a:rPr>
              <a:t>dataset_player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C1D22"/>
                </a:solidFill>
                <a:latin typeface="Montserrat"/>
              </a:rPr>
              <a:t>(OSDaR23)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84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PointCloud2 · 10 Гц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98064" y="2734056"/>
            <a:ext cx="365760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6120" y="1627632"/>
            <a:ext cx="3017520" cy="2212848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74720" y="184708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obstacle_detector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1284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D6E3"/>
                </a:solidFill>
                <a:latin typeface="Montserrat"/>
              </a:rPr>
              <a:t>весь тракт в одной ноде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560320"/>
            <a:ext cx="2560320" cy="256032"/>
          </a:xfrm>
          <a:prstGeom prst="roundRect">
            <a:avLst>
              <a:gd name="adj" fmla="val 30000"/>
            </a:avLst>
          </a:prstGeom>
          <a:noFill/>
          <a:ln w="952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Montserrat"/>
              </a:rPr>
              <a:t>координаты · фильтр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871215"/>
            <a:ext cx="2560320" cy="256032"/>
          </a:xfrm>
          <a:prstGeom prst="roundRect">
            <a:avLst>
              <a:gd name="adj" fmla="val 30000"/>
            </a:avLst>
          </a:prstGeom>
          <a:noFill/>
          <a:ln w="952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Montserrat"/>
              </a:rPr>
              <a:t>полотно · ось · коридор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182112"/>
            <a:ext cx="2560320" cy="256032"/>
          </a:xfrm>
          <a:prstGeom prst="roundRect">
            <a:avLst>
              <a:gd name="adj" fmla="val 30000"/>
            </a:avLst>
          </a:prstGeom>
          <a:noFill/>
          <a:ln w="952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Montserrat"/>
              </a:rPr>
              <a:t>свободное место · кластеры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493008"/>
            <a:ext cx="2560320" cy="256032"/>
          </a:xfrm>
          <a:prstGeom prst="roundRect">
            <a:avLst>
              <a:gd name="adj" fmla="val 30000"/>
            </a:avLst>
          </a:prstGeom>
          <a:noFill/>
          <a:ln w="9525">
            <a:solidFill>
              <a:srgbClr val="FF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Montserrat"/>
              </a:rPr>
              <a:t>треки · решение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45936" y="2734056"/>
            <a:ext cx="365760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1627632"/>
            <a:ext cx="2606040" cy="22128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95160" y="18105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Топики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13969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/gauge_status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3134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решение и запас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56032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/obstacles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73405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объекты кадра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98094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/track_corridor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154679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ось и коридор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4015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/markers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575303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RViz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00616" y="2734056"/>
            <a:ext cx="365760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66960" y="1627632"/>
            <a:ext cx="1847088" cy="2212848"/>
          </a:xfrm>
          <a:prstGeom prst="round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31552" y="1810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D6E3"/>
                </a:solidFill>
                <a:latin typeface="Montserrat"/>
              </a:rPr>
              <a:t>Потребители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13264" y="2157984"/>
            <a:ext cx="1572768" cy="438912"/>
          </a:xfrm>
          <a:prstGeom prst="roundRect">
            <a:avLst>
              <a:gd name="adj" fmla="val 25000"/>
            </a:avLst>
          </a:prstGeom>
          <a:noFill/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ontserrat"/>
              </a:rPr>
              <a:t>Система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ontserrat"/>
              </a:rPr>
              <a:t>управления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ontserrat"/>
              </a:rPr>
              <a:t>поездом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13264" y="2688336"/>
            <a:ext cx="1572768" cy="438912"/>
          </a:xfrm>
          <a:prstGeom prst="roundRect">
            <a:avLst>
              <a:gd name="adj" fmla="val 25000"/>
            </a:avLst>
          </a:prstGeom>
          <a:noFill/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ontserrat"/>
              </a:rPr>
              <a:t>result_monitor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13264" y="3218687"/>
            <a:ext cx="1572768" cy="438912"/>
          </a:xfrm>
          <a:prstGeom prst="roundRect">
            <a:avLst>
              <a:gd name="adj" fmla="val 25000"/>
            </a:avLst>
          </a:prstGeom>
          <a:noFill/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ontserrat"/>
              </a:rPr>
              <a:t>RViz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4133087"/>
            <a:ext cx="3685032" cy="15727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03503" y="4297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rail_guard_msgs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3" y="46085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83D1"/>
                </a:solidFill>
                <a:latin typeface="Montserrat"/>
              </a:rPr>
              <a:t>Obstacle · ObstacleArray · GaugeStatus · TrackCorridor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3" y="506577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Собирается без Python-зависимостей — подключается любым потребителем.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60" y="4133087"/>
            <a:ext cx="3685032" cy="15727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71416" y="4297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rail_guard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1416" y="46085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83D1"/>
                </a:solidFill>
                <a:latin typeface="Montserrat"/>
              </a:rPr>
              <a:t>lib/ — алгоритм без ROS · nodes/ — три ноды · test/ — 51 тест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1416" y="506577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Один Pipeline работает и в ноде, и в офлайн-прогоне.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9872" y="4133087"/>
            <a:ext cx="3685032" cy="15727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339328" y="4297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0053"/>
                </a:solidFill>
                <a:latin typeface="Montserrat"/>
              </a:rPr>
              <a:t>rail_guard_bringup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46085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83D1"/>
                </a:solidFill>
                <a:latin typeface="Montserrat"/>
              </a:rPr>
              <a:t>launch/ · config/metro.yaml · config/mainline.yaml · rviz/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8" y="506577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Под другую линию меняется YAML, а не исходники.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Почему одна нода. </a:t>
            </a:r>
            <a:r>
              <a:rPr sz="800" b="0">
                <a:solidFill>
                  <a:srgbClr val="6B6C75"/>
                </a:solidFill>
                <a:latin typeface="Montserrat"/>
              </a:rPr>
              <a:t>две сериализации облака на 300 тыс. точек в кадре — половина бюджета реального времени.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483864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Тракт обработки кадра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Двенадцать этапов, и на каждом точек меньше.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Дорогие операции достаются только тем точкам, которые ещё могут оказаться помехой.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536192"/>
            <a:ext cx="2139696" cy="841248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4048" y="1682495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300 000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04825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D6E3"/>
                </a:solidFill>
                <a:latin typeface="Montserrat"/>
              </a:rPr>
              <a:t>точек в кадре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1175" y="1956816"/>
            <a:ext cx="128016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06624" y="1536192"/>
            <a:ext cx="2139696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06624" y="1682495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20-40 тыс.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04825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после фильтрации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73752" y="1956816"/>
            <a:ext cx="128016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1536192"/>
            <a:ext cx="2139696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9200" y="1682495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~1 000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4825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внутри габарита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96328" y="1956816"/>
            <a:ext cx="128016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1776" y="1536192"/>
            <a:ext cx="2139696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51776" y="1682495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~800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204825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без шума и полотна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18904" y="1956816"/>
            <a:ext cx="128016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74352" y="1536192"/>
            <a:ext cx="2139696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74352" y="1682495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0053"/>
                </a:solidFill>
                <a:latin typeface="Montserrat"/>
              </a:rPr>
              <a:t>0-5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204825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объектов на выходе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2706624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12064" y="2798064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8529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Приведение системы координат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5" y="287121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lib/frames.py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3273552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12064" y="3364992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0а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41985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Измерение датчика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9935" y="34381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lib/sensor_model.py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3840480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12064" y="3931920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98678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Фильтрация и прореживание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9935" y="400507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lib/preprocess.py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4407408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12064" y="44988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5537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Поверхность полотна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9935" y="457200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lib/ground.py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4974336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12064" y="5065775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12064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Ось пути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9935" y="5138927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lib/track.py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" y="5541264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12064" y="5632704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6875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Коридор габарита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59935" y="570585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lib/track.py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7648" y="2706624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6455664" y="2798064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28529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Распознавание сцены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3536" y="287121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lib/scene.py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7648" y="3273552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6455664" y="3364992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341985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Свободное место тоннеля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03536" y="34381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lib/tunnel.py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7648" y="3840480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6455664" y="3931920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398678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Снятие шума, рельсов, полотна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03536" y="400507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lib/preprocess.py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7648" y="4407408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6455664" y="449884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5537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Кластеризация и отсев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03536" y="457200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lib/cluster.py · detect.py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27648" y="4974336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455664" y="5065775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512064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Скорость носителя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03536" y="5138927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lib/egomotion.py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27648" y="5541264"/>
            <a:ext cx="548640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6455664" y="5632704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56875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Сопровождение и решение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03536" y="570585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lib/tracking.py · decision.py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Весь кадр — 73-84 мс на 64-луче. </a:t>
            </a:r>
            <a:r>
              <a:rPr sz="800" b="0">
                <a:solidFill>
                  <a:srgbClr val="6B6C75"/>
                </a:solidFill>
                <a:latin typeface="Montserrat"/>
              </a:rPr>
              <a:t>Три самых объёмных этапа (1, 5, 6) выносятся на видеокарту; остальное остаётся на процессоре.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044952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Ось пути и коридор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В кривой R = 250 м ось уходит на 10 м вбок уже к 70 метрам.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«Прямо вперёд» — неверный ответ.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3685032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3" y="160934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30-40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195681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Рельсы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2212848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Ось — сопоставлением с шаблоном сечения.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81328"/>
            <a:ext cx="3685032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71416" y="160934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80-110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95681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Обделка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212848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За рельсами ось ведут измеренные центры полос тоннеля.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81328"/>
            <a:ext cx="3685032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39328" y="160934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s² / 2R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5681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20977"/>
                </a:solidFill>
                <a:latin typeface="Montserrat"/>
              </a:rPr>
              <a:t>Не экстраполяция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212848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Ошибка продолжения дуги — 12 м на сотне метров.</a:t>
            </a:r>
          </a:p>
        </p:txBody>
      </p:sp>
      <p:pic>
        <p:nvPicPr>
          <p:cNvPr id="17" name="Picture 16" descr="slide13_Pictur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2724912"/>
            <a:ext cx="11155680" cy="32009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4048" y="6016752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Сечения одного кадра: </a:t>
            </a:r>
            <a:r>
              <a:rPr sz="800" b="0">
                <a:solidFill>
                  <a:srgbClr val="6B6C75"/>
                </a:solidFill>
                <a:latin typeface="Montserrat"/>
              </a:rPr>
              <a:t>на 58-62 м экстраполяция уводит габарит на 2.4 м в сторону — прямо на обделку.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776472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Что не является помехой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Главный источник ложных торможений — сама стена.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На 60 м от обделки приходит такой же десяток точек, как от человека.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508760"/>
            <a:ext cx="39319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4" y="1700784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Модель свободного
пространства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395728"/>
            <a:ext cx="35204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Граница измеряется для каждой полосы дальности и слоя высоты.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Засчитывается только непрерывная вдоль пути: обделка есть в каждой полосе, предмет — в одной-двух.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Строится по каждому кадру заново и не помнит предыдущих.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968496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20977"/>
                </a:solidFill>
                <a:latin typeface="Montserrat"/>
              </a:rPr>
              <a:t>Заход внутрь свободного места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27939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обделка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4480559"/>
            <a:ext cx="2377440" cy="1188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03504" y="4480559"/>
            <a:ext cx="95097" cy="118872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72384" y="442569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A9B0"/>
                </a:solidFill>
                <a:latin typeface="Montserrat"/>
              </a:rPr>
              <a:t>≈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80974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край платформы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5010912"/>
            <a:ext cx="2377440" cy="1188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03504" y="5010912"/>
            <a:ext cx="190195" cy="118872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72384" y="495604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8A9B0"/>
                </a:solidFill>
                <a:latin typeface="Montserrat"/>
              </a:rPr>
              <a:t>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534009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предмет в габарите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5541264"/>
            <a:ext cx="2377440" cy="1188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03504" y="5541264"/>
            <a:ext cx="2187244" cy="11887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072384" y="548640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Montserrat"/>
              </a:rPr>
              <a:t>метры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577900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83D1"/>
                </a:solidFill>
                <a:latin typeface="Montserrat"/>
              </a:rPr>
              <a:t>intrusion_depth — одна величина на кластер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508760"/>
            <a:ext cx="7287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Восемь физических причин отбраковки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883664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727448" y="204825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too_flat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234086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ниже 20 см — балласт, шпалы, лоток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1883664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67344" y="204825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long_low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234086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длиннее 3 м и ниже 40 см — стрелочная тяга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2944368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27448" y="31089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ground_sheet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34015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широкая низкая плита — поверхность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5" y="2944368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67344" y="31089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sparse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34015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точек меньше, чем даёт объект такого размера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005072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27448" y="4169663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sliver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44622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вырожденный кластер — столб или провод с ребра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66175" y="4005072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67344" y="4169663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overhead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44622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низ выше 2.6 м — портал, свод, сигнальный мост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6280" y="5065775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727448" y="5230367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wall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7448" y="5522975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длинный, узкий, прижат к границе коридора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66175" y="5065775"/>
            <a:ext cx="3547872" cy="9509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467344" y="5230367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Consolas"/>
              </a:rPr>
              <a:t>tunnel_surface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5522975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лежит на границе свободного места — обделка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Плюс линии вдоль пути. </a:t>
            </a:r>
            <a:r>
              <a:rPr sz="800" b="0">
                <a:solidFill>
                  <a:srgbClr val="6B6C75"/>
                </a:solidFill>
                <a:latin typeface="Montserrat"/>
              </a:rPr>
              <a:t>три и больше кластера на одном смещении и высоте — это конструкция. Убирает 11 % кластеров в коридоре.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483864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Дальность обнаружения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Дальность мерили прямо —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подстановкой цели с физически корректной плотностью точек в реальные кадры.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3685032" cy="1225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03503" y="168249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3" y="182880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60 → 120 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2235550"/>
            <a:ext cx="32826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устойчивое обнаружение человека на записях метро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81328"/>
            <a:ext cx="3685032" cy="1225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1416" y="168249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71416" y="182880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57 → 135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235550"/>
            <a:ext cx="32826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достоверный коридор габарита там, где узнаётся труба тоннеля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81328"/>
            <a:ext cx="3685032" cy="12252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339328" y="168249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39328" y="182880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×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235550"/>
            <a:ext cx="32826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дальность команды торможения — без новых датчиков и внешних данных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889504"/>
            <a:ext cx="6675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3072384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0977"/>
                </a:solidFill>
                <a:latin typeface="Montserrat"/>
              </a:rPr>
              <a:t>Обнаружение подставленного человека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328416"/>
            <a:ext cx="6217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8A9B0"/>
                </a:solidFill>
                <a:latin typeface="Montserrat"/>
              </a:rPr>
              <a:t>доля кадров с подтверждённым треком, из шести опытов · снизу — точек от цели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504688"/>
            <a:ext cx="6126480" cy="0"/>
          </a:xfrm>
          <a:prstGeom prst="line">
            <a:avLst/>
          </a:prstGeom>
          <a:ln w="12700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68680" y="4456176"/>
            <a:ext cx="310896" cy="1048512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252728" y="3931920"/>
            <a:ext cx="310896" cy="1572768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3" y="423672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C75"/>
                </a:solidFill>
                <a:latin typeface="Montserrat"/>
              </a:rPr>
              <a:t>4/6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712463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0053"/>
                </a:solidFill>
                <a:latin typeface="Montserrat"/>
              </a:rPr>
              <a:t>6/6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5955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40 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424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87 т.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37944" y="4194047"/>
            <a:ext cx="310896" cy="1310640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221992" y="4194047"/>
            <a:ext cx="310896" cy="131064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801368" y="39745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C75"/>
                </a:solidFill>
                <a:latin typeface="Montserrat"/>
              </a:rPr>
              <a:t>5/6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85416" y="39745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0053"/>
                </a:solidFill>
                <a:latin typeface="Montserrat"/>
              </a:rPr>
              <a:t>5/6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6504" y="555955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60 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6504" y="57424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39 т.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7208" y="4980432"/>
            <a:ext cx="310896" cy="524256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191256" y="4194047"/>
            <a:ext cx="310896" cy="131064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770632" y="4760975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C75"/>
                </a:solidFill>
                <a:latin typeface="Montserrat"/>
              </a:rPr>
              <a:t>2/6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39745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0053"/>
                </a:solidFill>
                <a:latin typeface="Montserrat"/>
              </a:rPr>
              <a:t>5/6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555955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80 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15768" y="57424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22 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76472" y="5504688"/>
            <a:ext cx="310896" cy="18288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160520" y="4456176"/>
            <a:ext cx="310896" cy="104851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739896" y="528523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C75"/>
                </a:solidFill>
                <a:latin typeface="Montserrat"/>
              </a:rPr>
              <a:t>0/6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23944" y="423672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0053"/>
                </a:solidFill>
                <a:latin typeface="Montserrat"/>
              </a:rPr>
              <a:t>4/6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5032" y="555955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100 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5032" y="57424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14 т.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45736" y="5242559"/>
            <a:ext cx="310896" cy="262128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129783" y="4194047"/>
            <a:ext cx="310896" cy="131064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709159" y="5023103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C75"/>
                </a:solidFill>
                <a:latin typeface="Montserrat"/>
              </a:rPr>
              <a:t>1/6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3208" y="397459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0053"/>
                </a:solidFill>
                <a:latin typeface="Montserrat"/>
              </a:rPr>
              <a:t>5/6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4296" y="555955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120 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54296" y="57424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10 т.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5504688"/>
            <a:ext cx="310896" cy="18288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099048" y="4980432"/>
            <a:ext cx="310896" cy="52425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678424" y="5285231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C75"/>
                </a:solidFill>
                <a:latin typeface="Montserrat"/>
              </a:rPr>
              <a:t>0/6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2472" y="4760975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0053"/>
                </a:solidFill>
                <a:latin typeface="Montserrat"/>
              </a:rPr>
              <a:t>2/6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3560" y="555955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140 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57424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7 т.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3127248"/>
            <a:ext cx="128016" cy="91440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257800" y="307238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было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3127248"/>
            <a:ext cx="128016" cy="9144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989320" y="307238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стало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69480" y="2889504"/>
            <a:ext cx="4544568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488936" y="30723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0977"/>
                </a:solidFill>
                <a:latin typeface="Montserrat"/>
              </a:rPr>
              <a:t>Откуда взялись эти метры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88936" y="345643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502151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Коридор не строился дальше 75 м вовсе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88936" y="3877056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3922776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Ось за рельсами — измеренная по трубе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88936" y="429768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4343400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Одной стены достаточно, второй не ждём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88936" y="4718304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4764024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Прореживание не трогает дальнее поле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88936" y="5138928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3840" y="5184648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Рабочая зона расширена по высоте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88936" y="555955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0" y="5605272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C1D22"/>
                </a:solidFill>
                <a:latin typeface="Montserrat"/>
              </a:rPr>
              <a:t>Накопление кандидатов по пяти кадрам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88936" y="60167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0053"/>
                </a:solidFill>
                <a:latin typeface="Montserrat"/>
              </a:rPr>
              <a:t>×3 дальних точек на кадр: 1233 против 408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" y="6327648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Методика. </a:t>
            </a:r>
            <a:r>
              <a:rPr sz="800" b="0">
                <a:solidFill>
                  <a:srgbClr val="6B6C75"/>
                </a:solidFill>
                <a:latin typeface="Montserrat"/>
              </a:rPr>
              <a:t>цель вставляется в реальный кадр с числом точек n = fill·k·A/r², затеняет фон и получает шум дальномера.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191256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Решение по габариту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Решение — не «объект есть»,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а сравнение дальности до него с тормозным путём на текущей скорости.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2706624" cy="1298448"/>
          </a:xfrm>
          <a:prstGeom prst="roundRect">
            <a:avLst/>
          </a:prstGeom>
          <a:solidFill>
            <a:srgbClr val="1B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3" y="17007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СВОБОДЕН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084831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Montserrat"/>
              </a:rPr>
              <a:t>помех в габарите нет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81328"/>
            <a:ext cx="2706624" cy="1298448"/>
          </a:xfrm>
          <a:prstGeom prst="round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11296" y="17007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ВНИМАНИЕ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2084831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Montserrat"/>
              </a:rPr>
              <a:t>объект далеко или не доказан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81328"/>
            <a:ext cx="2706624" cy="1298448"/>
          </a:xfrm>
          <a:prstGeom prst="roundRect">
            <a:avLst/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9088" y="17007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СЛУЖЕБНОЕ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84831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Montserrat"/>
              </a:rPr>
              <a:t>объект за зоной, подтверждённой рельсами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481328"/>
            <a:ext cx="2706624" cy="1298448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0" y="170078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ЭКСТРЕННОЕ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084831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Montserrat"/>
              </a:rPr>
              <a:t>объект в габарите внутри подтверждённой зоны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962656"/>
            <a:ext cx="11430000" cy="731520"/>
          </a:xfrm>
          <a:prstGeom prst="roundRect">
            <a:avLst/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  <a:r>
              <a:rPr sz="900" b="1">
                <a:solidFill>
                  <a:srgbClr val="FFD6E3"/>
                </a:solidFill>
                <a:latin typeface="Montserrat"/>
              </a:rPr>
              <a:t>экстр</a:t>
            </a:r>
            <a:r>
              <a:rPr sz="1500" b="1">
                <a:solidFill>
                  <a:srgbClr val="FFFFFF"/>
                </a:solidFill>
                <a:latin typeface="Montserrat"/>
              </a:rPr>
              <a:t> = v · t</a:t>
            </a:r>
            <a:r>
              <a:rPr sz="900" b="1">
                <a:solidFill>
                  <a:srgbClr val="FFD6E3"/>
                </a:solidFill>
                <a:latin typeface="Montserrat"/>
              </a:rPr>
              <a:t>реакции</a:t>
            </a:r>
            <a:r>
              <a:rPr sz="1500" b="1">
                <a:solidFill>
                  <a:srgbClr val="FFFFFF"/>
                </a:solidFill>
                <a:latin typeface="Montserrat"/>
              </a:rPr>
              <a:t> + v² / ( 2 · a</a:t>
            </a:r>
            <a:r>
              <a:rPr sz="900" b="1">
                <a:solidFill>
                  <a:srgbClr val="FFD6E3"/>
                </a:solidFill>
                <a:latin typeface="Montserrat"/>
              </a:rPr>
              <a:t>экстр</a:t>
            </a:r>
            <a:r>
              <a:rPr sz="1500" b="1">
                <a:solidFill>
                  <a:srgbClr val="FFFFFF"/>
                </a:solidFill>
                <a:latin typeface="Montserrat"/>
              </a:rPr>
              <a:t> 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3685032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3503" y="39684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0053"/>
                </a:solidFill>
                <a:latin typeface="Consolas"/>
              </a:rPr>
              <a:t>d ≤ d_экстр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" y="418795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экстренное торможение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840480"/>
            <a:ext cx="3685032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1416" y="39684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0053"/>
                </a:solidFill>
                <a:latin typeface="Consolas"/>
              </a:rPr>
              <a:t>d ≤ d_служебн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418795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служебное торможение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3840480"/>
            <a:ext cx="3685032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39328" y="39684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0053"/>
                </a:solidFill>
                <a:latin typeface="Consolas"/>
              </a:rPr>
              <a:t>d ≤ 2.5 · d_служебн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418795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внимание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681728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Что сознательно не тормозит поезд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010912"/>
            <a:ext cx="36850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5216" y="51389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1D22"/>
                </a:solidFill>
                <a:latin typeface="Montserrat"/>
              </a:rPr>
              <a:t>Заход только в запас габарита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5394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Боковые 0.25 м — на раскачку кузова, а не часть кузова.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5010912"/>
            <a:ext cx="36850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53128" y="51389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1D22"/>
                </a:solidFill>
                <a:latin typeface="Montserrat"/>
              </a:rPr>
              <a:t>Трек, не сближающийся с поездом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5394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Обязан сокращать дальность на пройденный путь. 7 из 13 долгих треков — не сокращали.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5010912"/>
            <a:ext cx="36850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21040" y="51389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1D22"/>
                </a:solidFill>
                <a:latin typeface="Montserrat"/>
              </a:rPr>
              <a:t>Объект ниже кромки кузова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94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На 10-12 см над УГР лежит то, по чему поезд ездит.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Задержка входит в тормозной путь. </a:t>
            </a:r>
            <a:r>
              <a:rPr sz="800" b="0">
                <a:solidFill>
                  <a:srgbClr val="6B6C75"/>
                </a:solidFill>
                <a:latin typeface="Montserrat"/>
              </a:rPr>
              <a:t>93 мс медиана, 140 мс p95 — поезд за это время проезжает v·t.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459736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Самокалибровка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Профиль линии — 17 строк физики из регламента.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Всё остальное система измеряет по самим кадрам.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5614416" cy="45902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6824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53"/>
                </a:solidFill>
                <a:latin typeface="Montserrat"/>
              </a:rPr>
              <a:t>Задаётся человеком — только физика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config/metro.yaml · config/mainline.yaml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591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track.gauge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591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колея: 1.59 м при 1520 мм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" y="27249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" y="28163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track.spacing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163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междупутье на перегоне: 4.0 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31821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32735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track.min_radius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2735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минимальный радиус кривой: 150 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36393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37307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gauge.half_width · height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7307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габарит состава: 2.8 × 3.75 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40965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41879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gauge.bottom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1879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нижняя кромка кузова над УГР: 0.10 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45537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46451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gauge.lateral_margin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6451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запас на раскачку кузова: 0.25 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50109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51023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decision.*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1023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замедления, время реакции, скорость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" y="54681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5559552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Consolas"/>
              </a:rPr>
              <a:t>safety.min_target_*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5595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минимальное препятствие: 0.30 × 0.50 × 0.30 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1481328"/>
            <a:ext cx="5614416" cy="45902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37376" y="16824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Измеряется системой по кадрам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frames.py · sensor_model.py · scene.py · derive.py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23591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ориентация датчика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23591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по геометрии первого пригодного кадра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37376" y="27249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37376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плотность лучей, дальнобойность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4" y="28163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по кадрам, в переднем секторе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37376" y="31821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37376" y="32735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тоннель или открытый участок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32735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по непрерывности боковой границы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37376" y="36393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37376" y="37307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пороги числа точек, связность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8864" y="37307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из плотности лучей и размера цели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37376" y="40965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37376" y="41879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длина коридора за рельсами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98864" y="41879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из минимального радиуса кривой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37376" y="45537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37376" y="46451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полосы поиска пути и полотна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8864" y="46451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из междупутья и измеренного сечения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37376" y="50109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437376" y="5102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потолок плотности облака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98864" y="51023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по фактическому времени кадра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37376" y="5468112"/>
            <a:ext cx="5138928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437376" y="55595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C1D22"/>
                </a:solidFill>
                <a:latin typeface="Montserrat"/>
              </a:rPr>
              <a:t>скорость и период кадров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8864" y="5559552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по облакам и штампам сообщений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Что это даёт. </a:t>
            </a:r>
            <a:r>
              <a:rPr sz="800" b="0">
                <a:solidFill>
                  <a:srgbClr val="6B6C75"/>
                </a:solidFill>
                <a:latin typeface="Montserrat"/>
              </a:rPr>
              <a:t>чтобы поехать на новой линии, нужно заполнить строки из регламента — не собирать датасет и не переобучать модель.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459736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Реальное время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Период лидара — 100 мс, и тракт в него укладывается.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Потолок плотности не задан числом: система меряет собственное время кадра.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2706624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85216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5216" y="18105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73-84 мс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176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кадр на 64-луче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307 тыс. точек, 8 МБ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81328"/>
            <a:ext cx="2706624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93008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93008" y="18105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99-104 мс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176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кадр на 128-луче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921 тыс. точек, 24 МБ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81328"/>
            <a:ext cx="2706624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0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0" y="18105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93 мс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76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задержка «съёмка → команда»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медиана, p95 — 140 мс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1481328"/>
            <a:ext cx="2706624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308592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08592" y="181051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92-93 %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176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кадров записи доходит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6C75"/>
                </a:solidFill>
                <a:latin typeface="Montserrat"/>
              </a:rPr>
              <a:t>до детектора (было 58 %)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834640"/>
            <a:ext cx="60350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792" y="2999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0977"/>
                </a:solidFill>
                <a:latin typeface="Montserrat"/>
              </a:rPr>
              <a:t>Бюджет кадра по стадиям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25526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doubleT_platform, 307 тыс. точек, медианы, мс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529584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фильтрация и прореживание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3566160"/>
            <a:ext cx="2468880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310128" y="3566160"/>
            <a:ext cx="1481328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870448" y="352958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73989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поверхность полотна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0128" y="3776472"/>
            <a:ext cx="775933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310128" y="3776472"/>
            <a:ext cx="705394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70448" y="373989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950208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коридор и отбор точек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0128" y="3986783"/>
            <a:ext cx="564315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310128" y="3986783"/>
            <a:ext cx="493776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870448" y="395020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416052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ось пути: рельсы, затем обделка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0128" y="4197096"/>
            <a:ext cx="423236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310128" y="4197096"/>
            <a:ext cx="423236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70448" y="416052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4370832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модель свободного пространства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0128" y="4407407"/>
            <a:ext cx="352697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310128" y="4407407"/>
            <a:ext cx="352697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870448" y="437083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4581144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приведение системы координат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0128" y="4617720"/>
            <a:ext cx="282157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310128" y="4617720"/>
            <a:ext cx="282157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870448" y="458114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47914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кластеризация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10128" y="4828031"/>
            <a:ext cx="282157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310128" y="4828031"/>
            <a:ext cx="282157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870448" y="479145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5001768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оценка скорости носителя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0128" y="5038344"/>
            <a:ext cx="282157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3310128" y="5038344"/>
            <a:ext cx="282157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870448" y="500176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521208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снятие шума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0128" y="5248655"/>
            <a:ext cx="211618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3310128" y="5248655"/>
            <a:ext cx="211618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870448" y="5212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5422392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объекты и фильтры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10128" y="5458968"/>
            <a:ext cx="282157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310128" y="5458968"/>
            <a:ext cx="282157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870448" y="54223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" y="5632704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C1D22"/>
                </a:solidFill>
                <a:latin typeface="Montserrat"/>
              </a:rPr>
              <a:t>сопровождение и решение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10128" y="5669279"/>
            <a:ext cx="35269" cy="128016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3310128" y="5669279"/>
            <a:ext cx="35269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870448" y="563270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0053"/>
                </a:solidFill>
                <a:latin typeface="Montserrat"/>
              </a:rPr>
              <a:t>0.5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588873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Montserrat"/>
              </a:rPr>
              <a:t>Весь кадр: 88 → 75 мс. </a:t>
            </a:r>
            <a:r>
              <a:rPr sz="850" b="0">
                <a:solidFill>
                  <a:srgbClr val="6B6C75"/>
                </a:solidFill>
                <a:latin typeface="Montserrat"/>
              </a:rPr>
              <a:t>Серым — как было, малиновым — как стало.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29400" y="2834640"/>
            <a:ext cx="5184648" cy="10149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848856" y="29626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Подстройка под нагрузку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48856" y="323697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Не укладывается — уступает сначала плотность ближнего поля (97 % точек, дальность от них не зависит), и только потом дальность.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29400" y="3950208"/>
            <a:ext cx="5184648" cy="10149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848856" y="407822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Прореживание при разборе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48856" y="4352544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Таблица вокселей вместо сортировки ключей всего облака: 21 мс вместо 35.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29400" y="5065776"/>
            <a:ext cx="5184648" cy="10149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848856" y="519379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0053"/>
                </a:solidFill>
                <a:latin typeface="Montserrat"/>
              </a:rPr>
              <a:t>Отказ GPU не останавливает поезд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48856" y="5468112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Любая ошибка GPU переводит тракт на процессор навсегда. Повторных попыток нет: каждая стоила бы кадра.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29400" y="6163056"/>
            <a:ext cx="5184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Три этапа на видеокарте: фильтрация, свободное место, распознавание сцены.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922776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Результаты: записи метро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Шесть проездов, 2488 кадров, 21.7 ГБ — и один профиль на все записи.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Ни один параметр не подбирался под конкретный бэг.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2706624" cy="11338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85216" y="1645920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5216" y="179222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15 % → 1 %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157984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кадров с ложным экстренным торможением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81328"/>
            <a:ext cx="2706624" cy="11338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93008" y="1645920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93008" y="179222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43 % → 64 %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157984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кадров «путь свободен»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81328"/>
            <a:ext cx="2706624" cy="11338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0" y="179222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57 → 135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57984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достоверный коридор габарита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1481328"/>
            <a:ext cx="2706624" cy="11338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308592" y="1645920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08592" y="179222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0053"/>
                </a:solidFill>
                <a:latin typeface="Montserrat"/>
              </a:rPr>
              <a:t>7368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157984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прогонов кадра на каждый вариант тракта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4048" y="2816352"/>
          <a:ext cx="11429993" cy="2240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2592"/>
                <a:gridCol w="940740"/>
                <a:gridCol w="1034814"/>
                <a:gridCol w="987777"/>
                <a:gridCol w="1222962"/>
                <a:gridCol w="940740"/>
                <a:gridCol w="1034814"/>
                <a:gridCol w="1034814"/>
                <a:gridCol w="940740"/>
              </a:tblGrid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Запись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Кадров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Свободно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Внимание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Торможение*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Рельсы, м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Тоннель, м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Коридор, м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Кадр, мс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C1D22"/>
                          </a:solidFill>
                          <a:latin typeface="Montserrat"/>
                        </a:rPr>
                        <a:t>doubleT_obstacle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603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4 %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96 %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0 %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44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135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99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C1D22"/>
                          </a:solidFill>
                          <a:latin typeface="Montserrat"/>
                        </a:rPr>
                        <a:t>doubleT_platform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1029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80 %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17 %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2 %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61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78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C1D22"/>
                          </a:solidFill>
                          <a:latin typeface="Montserrat"/>
                        </a:rPr>
                        <a:t>roundT_doubleT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747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48 %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41 %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10 %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115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84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C1D22"/>
                          </a:solidFill>
                          <a:latin typeface="Montserrat"/>
                        </a:rPr>
                        <a:t>roundT_pressureGate_roundT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798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70 %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19 %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12 %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32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80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105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80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C1D22"/>
                          </a:solidFill>
                          <a:latin typeface="Montserrat"/>
                        </a:rPr>
                        <a:t>roundT_squareT_pressureGate_squareT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1629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61 %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31 %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8 %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115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73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C1D22"/>
                          </a:solidFill>
                          <a:latin typeface="Montserrat"/>
                        </a:rPr>
                        <a:t>squareT_platform_squareT_switch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2562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76 %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20 %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4 %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80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105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B6C75"/>
                          </a:solidFill>
                          <a:latin typeface="Montserrat"/>
                        </a:rPr>
                        <a:t>79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84048" y="5230368"/>
            <a:ext cx="5614416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535838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20977"/>
                </a:solidFill>
                <a:latin typeface="Montserrat"/>
              </a:rPr>
              <a:t>Методика. </a:t>
            </a:r>
            <a:r>
              <a:rPr sz="850" b="0">
                <a:solidFill>
                  <a:srgbClr val="6B6C75"/>
                </a:solidFill>
                <a:latin typeface="Montserrat"/>
              </a:rPr>
              <a:t>Оценка оси рекурсивна: все цифры усреднены по трём стартам — со 2-го, 5-го и 9-го кадра.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5230368"/>
            <a:ext cx="5614416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19088" y="535838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Montserrat"/>
              </a:rPr>
              <a:t>Чего это не значит. </a:t>
            </a:r>
            <a:r>
              <a:rPr sz="850" b="0">
                <a:solidFill>
                  <a:srgbClr val="6B6C75"/>
                </a:solidFill>
                <a:latin typeface="Montserrat"/>
              </a:rPr>
              <a:t>Разметки в записях нет: доля кадров с торможением — поведение системы, а не метрика качества.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* служебное и экстренное вместе. </a:t>
            </a:r>
            <a:r>
              <a:rPr sz="800" b="0">
                <a:solidFill>
                  <a:srgbClr val="6B6C75"/>
                </a:solidFill>
                <a:latin typeface="Montserrat"/>
              </a:rPr>
              <a:t>«Рельсы» — докуда сечение распознано по ниткам, «Тоннель» — докуда зону продлила обделка.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191256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Результаты: OSDaR23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Открытый датасет с эталонной разметкой (DZSF / DB Netz AG).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На нём меряется то, чего на записях метро измерить нечем.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5614416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4" y="1645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0977"/>
                </a:solidFill>
                <a:latin typeface="Montserrat"/>
              </a:rPr>
              <a:t>Точность поиска оси пути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90195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среднее отклонение от размеченных рельсов своего пути, 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2176272"/>
          <a:ext cx="5175502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9141"/>
                <a:gridCol w="1035100"/>
                <a:gridCol w="1242120"/>
                <a:gridCol w="1449141"/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Дальность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прямая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платформа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кривая R≈250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0-20 м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0.06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0.04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0.74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20-40 м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0.20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0.23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2.46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40-60 м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0.39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0.83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4.73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60-80 м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6.68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84048" y="3931920"/>
            <a:ext cx="5614416" cy="21396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" y="4096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0977"/>
                </a:solidFill>
                <a:latin typeface="Montserrat"/>
              </a:rPr>
              <a:t>Дальность детекции подставленной цели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435254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доля кадров с командой торможения, из восьми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3504" y="4626864"/>
          <a:ext cx="5175504" cy="12801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5168"/>
                <a:gridCol w="862584"/>
                <a:gridCol w="862584"/>
                <a:gridCol w="862584"/>
                <a:gridCol w="862584"/>
              </a:tblGrid>
              <a:tr h="2560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40 м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60 м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100 м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120 м</a:t>
                      </a:r>
                    </a:p>
                  </a:txBody>
                  <a:tcPr marL="73152" marR="54864" marT="27432" marB="27432" anchor="ctr">
                    <a:solidFill>
                      <a:srgbClr val="520977"/>
                    </a:solidFill>
                  </a:tcPr>
                </a:tc>
              </a:tr>
              <a:tr h="2560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человек, точек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255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121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51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35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60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детекций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8/8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7/8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3/8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5/8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</a:tr>
              <a:tr h="2560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торможений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8/8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7/8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3/8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4/8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60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C1D22"/>
                          </a:solidFill>
                          <a:latin typeface="Montserrat"/>
                        </a:rPr>
                        <a:t>с путевой картой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8/8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7/8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7/8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6B6C75"/>
                          </a:solidFill>
                          <a:latin typeface="Montserrat"/>
                        </a:rPr>
                        <a:t>0/8</a:t>
                      </a:r>
                    </a:p>
                  </a:txBody>
                  <a:tcPr marL="73152" marR="54864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99632" y="1481328"/>
            <a:ext cx="5614416" cy="1481328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9088" y="166420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579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команд торможения на 30 кадрах трёх сцен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420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D6E3"/>
                </a:solidFill>
                <a:latin typeface="Montserrat"/>
              </a:rPr>
              <a:t>Путь во всех трёх сценах свободен — любая команда здесь была бы ложной.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145536"/>
            <a:ext cx="5614416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9088" y="327355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53"/>
                </a:solidFill>
                <a:latin typeface="Montserrat"/>
              </a:rPr>
              <a:t>Ось пути из путевой карты меняет всё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2958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Торможение по человеку до 100 м против 60 м при оси из облака.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151376"/>
            <a:ext cx="5614416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19088" y="427939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53"/>
                </a:solidFill>
                <a:latin typeface="Montserrat"/>
              </a:rPr>
              <a:t>Предельная дальность считается из физики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53542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Цель 0.3 × 0.5 м различима до 120-145 м, и это значение публикуется в каждом кадре.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5157216"/>
            <a:ext cx="5614416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9088" y="528523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53"/>
                </a:solidFill>
                <a:latin typeface="Montserrat"/>
              </a:rPr>
              <a:t>Тот же код, другой профиль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541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На открытом перегоне модель тоннеля выключается сама — сцена распознаётся по кадрам.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Три принципиально разные сцены: </a:t>
            </a:r>
            <a:r>
              <a:rPr sz="800" b="0">
                <a:solidFill>
                  <a:srgbClr val="6B6C75"/>
                </a:solidFill>
                <a:latin typeface="Montserrat"/>
              </a:rPr>
              <a:t>перегон с техникой у пути, платформа с людьми и спуск к подземной станции — кривая R ≈ 250 м, стрелка.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752344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Как это выглядит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Двухпутный тоннель, коридор габарита и решение —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и то же самое в терминале. Видео работы (14 с) собирается одним скриптом.</a:t>
            </a:r>
          </a:p>
        </p:txBody>
      </p:sp>
      <p:pic>
        <p:nvPicPr>
          <p:cNvPr id="5" name="Picture 4" descr="slide21_Pictur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99616"/>
            <a:ext cx="7726679" cy="43462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499616"/>
            <a:ext cx="3538728" cy="4343400"/>
          </a:xfrm>
          <a:prstGeom prst="roundRect">
            <a:avLst/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58200" y="1682496"/>
            <a:ext cx="32461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C3777"/>
                </a:solidFill>
                <a:latin typeface="Consolas"/>
              </a:rPr>
              <a:t>rail-guard · мониторинг габарита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Consolas"/>
              </a:rPr>
              <a:t>датчик: предел обнаружения 68 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Consolas"/>
              </a:rPr>
              <a:t>сцена: замкнутое сечение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Consolas"/>
              </a:rPr>
              <a:t>кадр  путь корид. помех  решение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89300"/>
                </a:solidFill>
                <a:latin typeface="Consolas"/>
              </a:rPr>
              <a:t>  228  40 м  124 м    3  ВНИМАНИЕ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B9E5A"/>
                </a:solidFill>
                <a:latin typeface="Consolas"/>
              </a:rPr>
              <a:t>  229  36 м  124 м    0  СВОБОДЕН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C3777"/>
                </a:solidFill>
                <a:latin typeface="Consolas"/>
              </a:rPr>
              <a:t>  230  36 м  124 м    1  СЛУЖЕБНОЕ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ИТОГ ПРОГОНА · 235 кадров · 29 с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B9E5A"/>
                </a:solidFill>
                <a:latin typeface="Consolas"/>
              </a:rPr>
              <a:t>СВОБОДЕН    ██████░░░░░░░░   99 (42 %)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E89300"/>
                </a:solidFill>
                <a:latin typeface="Consolas"/>
              </a:rPr>
              <a:t>ВНИМАНИЕ    ████████░░░░░░  129 (55 %)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C3777"/>
                </a:solidFill>
                <a:latin typeface="Consolas"/>
              </a:rPr>
              <a:t>СЛУЖЕБНОЕ   ░░░░░░░░░░░░░░    6 ( 3 %)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FF0053"/>
                </a:solidFill>
                <a:latin typeface="Consolas"/>
              </a:rPr>
              <a:t>ЭКСТРЕННОЕ  ░░░░░░░░░░░░░░    1 ( 0 %)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Consolas"/>
              </a:rPr>
              <a:t>задержка «съёмка → команда»  93 мс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Consolas"/>
              </a:rPr>
              <a:t>дальность мониторинга       132 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Consolas"/>
              </a:rPr>
              <a:t>путь подтверждён             36 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Consolas"/>
              </a:rPr>
              <a:t>допустимая по обзору     8.8 м/с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236208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Красным — ось пути и границы габарита, кружками — где ось подтверждена рельсами. </a:t>
            </a:r>
            <a:r>
              <a:rPr sz="800" b="0">
                <a:solidFill>
                  <a:srgbClr val="6B6C75"/>
                </a:solidFill>
                <a:latin typeface="Montserrat"/>
              </a:rPr>
              <a:t>Колонка «путь» в терминале — та же дальность: именно она ограничивает зону экстренного торможения.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1874520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Интеграция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Сообщения самодостаточны: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получатель принимает решение, не заглядывая в облако точек.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36850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3685032" cy="7315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3" y="1719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53"/>
                </a:solidFill>
                <a:latin typeface="Consolas"/>
              </a:rPr>
              <a:t>/rail_guard/gauge_status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197510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rail_guard_msgs/GaugeStatus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04288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action — свободно / внимание / служебное / экстренное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nearest_distance — до ближайшей помехи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braking_distance · confident_range · max_safe_speed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ego_speed · speed_source · detection_limit · scene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reason — обоснование решения словами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81328"/>
            <a:ext cx="36850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251960" y="1481328"/>
            <a:ext cx="3685032" cy="7315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71416" y="1719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53"/>
                </a:solidFill>
                <a:latin typeface="Consolas"/>
              </a:rPr>
              <a:t>/rail_guard/obstacles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97510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rail_guard_msgs/ObstacleArray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304288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id трека, стабильный между кадрами; classification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centroid · size · min_point · max_point — AABB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distance · lateral_offset · height_above_rail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intrusion_depth — заход внутрь свободного места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closing_speed · time_to_contact · in_gauge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481328"/>
            <a:ext cx="36850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19872" y="1481328"/>
            <a:ext cx="3685032" cy="73152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39328" y="1719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0053"/>
                </a:solidFill>
                <a:latin typeface="Consolas"/>
              </a:rPr>
              <a:t>/rail_guard/track_corridor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97510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rail_guard_msgs/TrackCorridor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304288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centerline — точки оси пути от носа поезда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half_width · height — габарит в каждой точке оси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curvature_radius — оценка радиуса кривой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estimated_from_rails — по рельсам или экстраполяция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•  valid_range — докуда ось достоверна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059936"/>
            <a:ext cx="114300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3504" y="4242816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20977"/>
                </a:solidFill>
                <a:latin typeface="Montserrat"/>
              </a:rPr>
              <a:t>Подписки. </a:t>
            </a:r>
            <a:r>
              <a:rPr sz="850" b="0">
                <a:solidFill>
                  <a:srgbClr val="6B6C75"/>
                </a:solidFill>
                <a:latin typeface="Montserrat"/>
              </a:rPr>
              <a:t>Имя топика облака любое — детектор находит его сам. /train/speed не обязателен.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242816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20977"/>
                </a:solidFill>
                <a:latin typeface="Montserrat"/>
              </a:rPr>
              <a:t>Совместимость. </a:t>
            </a:r>
            <a:r>
              <a:rPr sz="850" b="0">
                <a:solidFill>
                  <a:srgbClr val="6B6C75"/>
                </a:solidFill>
                <a:latin typeface="Montserrat"/>
              </a:rPr>
              <a:t>ObstacleArray → vision_msgs/Detection3DArray один в один: модуль встаёт в бортовой пайплайн, а не заменяет его.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Подписка RELIABLE, глубина 2: </a:t>
            </a:r>
            <a:r>
              <a:rPr sz="800" b="0">
                <a:solidFill>
                  <a:srgbClr val="6B6C75"/>
                </a:solidFill>
                <a:latin typeface="Montserrat"/>
              </a:rPr>
              <a:t>кадр 8-24 МБ идёт фрагментами по 64 КБ — при BEST_EFFORT потеря одного фрагмента отбросила бы весь кадр.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898648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Воспроизводимость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Каждая цифра этой презентации воспроизводится одной командой.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Это единственный способ отличить работу алгоритма от подгонки под запись.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2706624" cy="13350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85216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5216" y="1810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304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тест на синтетических сценах с заранее известным ответом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81328"/>
            <a:ext cx="2706624" cy="13350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93008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93008" y="1810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304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профиля линии — метро и магистраль, только физика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81328"/>
            <a:ext cx="2706624" cy="13350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0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0" y="1810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скриптов измерения: метрики, профиль, видео, сверка GPU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1481328"/>
            <a:ext cx="2706624" cy="13350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308592" y="166420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08592" y="1810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3042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документов: алгоритм, архитектура, эксперименты, данные, результаты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980944"/>
            <a:ext cx="5614416" cy="3090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792" y="31455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Тесты прогоняются при сборке образа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493008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Поиск оси на прямой и в кривой; предмет в габарите и рядом с ним.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Классификация человека; приведение координат при перевёрнутом датчике.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Отсев конструкций на границе свободного места; обрезка коридора.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Продление зоны доверия обделкой — и то, что труба не переписывает рельсовую ось.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Оценка скорости по облакам, отбрасывание скачка, кинематический гейт.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Обратимость «тормозной путь — допустимая скорость».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Ограничение реакции за зоной подтверждения пути.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Снятие полотна без потери предмета на нём; отсев склеек длиннее 8 м.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•  Стабильность решётки прореживания между кадрами.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980944"/>
            <a:ext cx="5614416" cy="30906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37376" y="31455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Чем меряется на своих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51129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Consolas"/>
              </a:rPr>
              <a:t>run_offline_bag.py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68503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прогон по записи без ROS-транспорта; параметры — ключом --set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93192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Consolas"/>
              </a:rPr>
              <a:t>run_benchmark.sh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0565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весь набор метрик по OSDaR23 одной командой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35254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Consolas"/>
              </a:rPr>
              <a:t>measure_sensor.py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4526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что система измерила о вашем датчике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77316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Consolas"/>
              </a:rPr>
              <a:t>check_gpu.py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94690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совпадает ли счёт на видеокарте с процессорным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519379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Consolas"/>
              </a:rPr>
              <a:t>eval_track.py · eval_detection.py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536752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точность оси и дальность детекции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561441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Consolas"/>
              </a:rPr>
              <a:t>make_demo_video.py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78815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6C75"/>
                </a:solidFill>
                <a:latin typeface="Montserrat"/>
              </a:rPr>
              <a:t>видео работы из результата того же пайплайна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Образ не соберётся, если тракт сломан — </a:t>
            </a:r>
            <a:r>
              <a:rPr sz="800" b="0">
                <a:solidFill>
                  <a:srgbClr val="6B6C75"/>
                </a:solidFill>
                <a:latin typeface="Montserrat"/>
              </a:rPr>
              <a:t>51 тест прогоняется прямо в docker build.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337560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Ограничения — честно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Мы считаем это частью результата.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Система, о границах которой нельзя сказать вслух, в контур безопасности не ставится.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627632"/>
            <a:ext cx="3685032" cy="18836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03503" y="184708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3" y="201168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D22"/>
                </a:solidFill>
                <a:latin typeface="Montserrat"/>
              </a:rPr>
              <a:t>Долю ложных срабатываний измерить не удалось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2670048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В записях метро нет эталонной разметки: все цифры по ним — поведение системы, а не метрика качества.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27632"/>
            <a:ext cx="3685032" cy="18836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1416" y="184708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71416" y="201168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D22"/>
                </a:solidFill>
                <a:latin typeface="Montserrat"/>
              </a:rPr>
              <a:t>Тугая кривая без путевой карты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670048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До 6.7 м ошибки на 70 м при R = 250 м. Лечится внешней осью пути — механизм уже в коде.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27632"/>
            <a:ext cx="3685032" cy="18836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339328" y="1847088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39328" y="201168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D22"/>
                </a:solidFill>
                <a:latin typeface="Montserrat"/>
              </a:rPr>
              <a:t>Стрелка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670048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Выбор ветви по облаку точек однозначно не решается: нужен маршрут от системы централизации.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49039"/>
            <a:ext cx="3685032" cy="18836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3503" y="396849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3503" y="4133087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D22"/>
                </a:solidFill>
                <a:latin typeface="Montserrat"/>
              </a:rPr>
              <a:t>Доля «внимания» высока — 10-93 %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" y="4791455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Слабые кластеры в 7-30 точек на 25-60 м: предмет 40 см и шумовой всплеск дают одинаковое число отражений.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49039"/>
            <a:ext cx="3685032" cy="18836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471416" y="396849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71416" y="4133087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D22"/>
                </a:solidFill>
                <a:latin typeface="Montserrat"/>
              </a:rPr>
              <a:t>Узкий груз вдоль пути система пропустит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4791455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Полоса тоньше 30 см и длиннее метра считается кабельным лотком. Цена признака названа честно.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3749039"/>
            <a:ext cx="3685032" cy="18836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339328" y="3968496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39328" y="4133087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D22"/>
                </a:solidFill>
                <a:latin typeface="Montserrat"/>
              </a:rPr>
              <a:t>Тоннельная часть проверена не на тоннеле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791455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Открытых записей из тоннелей метро нет: фильтр свода проверен на портале станции OSDaR23.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Что откатили после замеров. </a:t>
            </a:r>
            <a:r>
              <a:rPr sz="800" b="0">
                <a:solidFill>
                  <a:srgbClr val="6B6C75"/>
                </a:solidFill>
                <a:latin typeface="Montserrat"/>
              </a:rPr>
              <a:t>уточнение оси по трубе (+4 п.п. экстренных), стабилизацию оси, ужесточение отсечки полотна, отсев по «заполненности».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776472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Бизнесовая составляющая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Выгоду даёт не точность детектора, а то, что систему не нужно обучать заново.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Это меняет цену внедрения на второй, третьей и десятой линии.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481328"/>
            <a:ext cx="7040880" cy="23957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6459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Что нужно, чтобы поехать на новой линии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5681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6C75"/>
                </a:solidFill>
                <a:latin typeface="Montserrat"/>
              </a:rPr>
              <a:t>Обучаемая детекция — на каждую линию заново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12848"/>
            <a:ext cx="1170432" cy="566928"/>
          </a:xfrm>
          <a:prstGeom prst="roundRect">
            <a:avLst>
              <a:gd name="adj" fmla="val 28000"/>
            </a:avLst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проезды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со съёмкой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19656" y="2496312"/>
            <a:ext cx="128016" cy="0"/>
          </a:xfrm>
          <a:prstGeom prst="line">
            <a:avLst/>
          </a:prstGeom>
          <a:ln w="15875">
            <a:solidFill>
              <a:srgbClr val="A8A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75104" y="2212848"/>
            <a:ext cx="1170432" cy="566928"/>
          </a:xfrm>
          <a:prstGeom prst="roundRect">
            <a:avLst>
              <a:gd name="adj" fmla="val 28000"/>
            </a:avLst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разметка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препятствий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72968" y="2496312"/>
            <a:ext cx="128016" cy="0"/>
          </a:xfrm>
          <a:prstGeom prst="line">
            <a:avLst/>
          </a:prstGeom>
          <a:ln w="15875">
            <a:solidFill>
              <a:srgbClr val="A8A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28416" y="2212848"/>
            <a:ext cx="1170432" cy="566928"/>
          </a:xfrm>
          <a:prstGeom prst="roundRect">
            <a:avLst>
              <a:gd name="adj" fmla="val 28000"/>
            </a:avLst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обучение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модели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496312"/>
            <a:ext cx="128016" cy="0"/>
          </a:xfrm>
          <a:prstGeom prst="line">
            <a:avLst/>
          </a:prstGeom>
          <a:ln w="15875">
            <a:solidFill>
              <a:srgbClr val="A8A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81727" y="2212848"/>
            <a:ext cx="1170432" cy="566928"/>
          </a:xfrm>
          <a:prstGeom prst="roundRect">
            <a:avLst>
              <a:gd name="adj" fmla="val 28000"/>
            </a:avLst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валидация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на линии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9592" y="2496312"/>
            <a:ext cx="128015" cy="0"/>
          </a:xfrm>
          <a:prstGeom prst="line">
            <a:avLst/>
          </a:prstGeom>
          <a:ln w="15875">
            <a:solidFill>
              <a:srgbClr val="A8A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2212848"/>
            <a:ext cx="1170432" cy="566928"/>
          </a:xfrm>
          <a:prstGeom prst="roundRect">
            <a:avLst>
              <a:gd name="adj" fmla="val 28000"/>
            </a:avLst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C1D22"/>
                </a:solidFill>
                <a:latin typeface="Montserrat"/>
              </a:rPr>
              <a:t>развёртывание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944368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0053"/>
                </a:solidFill>
                <a:latin typeface="Montserrat"/>
              </a:rPr>
              <a:t>MetroGuarder — один раз и на любую линию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182112"/>
            <a:ext cx="3191256" cy="566928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ontserrat"/>
              </a:rPr>
              <a:t>17 строк профиля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D6E3"/>
                </a:solidFill>
                <a:latin typeface="Montserrat"/>
              </a:rPr>
              <a:t>из регламента линии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465576"/>
            <a:ext cx="128016" cy="0"/>
          </a:xfrm>
          <a:prstGeom prst="line">
            <a:avLst/>
          </a:prstGeom>
          <a:ln w="15875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995928" y="3182112"/>
            <a:ext cx="3191256" cy="566928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docker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1481328"/>
            <a:ext cx="4206240" cy="23957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45552" y="16459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20977"/>
                </a:solidFill>
                <a:latin typeface="Montserrat"/>
              </a:rPr>
              <a:t>Затраты на каждую следующую линию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5552" y="1956816"/>
            <a:ext cx="128016" cy="91440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028431" y="190195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обучаемая детекция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10928" y="1956816"/>
            <a:ext cx="128016" cy="9144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93808" y="190195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MetroGuarder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79" y="3328416"/>
            <a:ext cx="3675888" cy="0"/>
          </a:xfrm>
          <a:prstGeom prst="line">
            <a:avLst/>
          </a:prstGeom>
          <a:ln w="12700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01583" y="2139696"/>
            <a:ext cx="274320" cy="1188720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430767" y="2139696"/>
            <a:ext cx="274320" cy="1188720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955279" y="33832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1-я линия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15984" y="2194560"/>
            <a:ext cx="274320" cy="1133856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345167" y="3108960"/>
            <a:ext cx="274320" cy="21945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869680" y="33832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2-я линия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30384" y="2194560"/>
            <a:ext cx="274320" cy="1133856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0259567" y="3108960"/>
            <a:ext cx="274320" cy="21945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84080" y="33832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3-я линия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44784" y="2194560"/>
            <a:ext cx="274320" cy="1133856"/>
          </a:xfrm>
          <a:prstGeom prst="rect">
            <a:avLst/>
          </a:prstGeom>
          <a:solidFill>
            <a:srgbClr val="A8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1173967" y="3108960"/>
            <a:ext cx="274320" cy="21945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698480" y="33832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C75"/>
                </a:solidFill>
                <a:latin typeface="Montserrat"/>
              </a:rPr>
              <a:t>4-я линия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58444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8A9B0"/>
                </a:solidFill>
                <a:latin typeface="Montserrat"/>
              </a:rPr>
              <a:t>Схема структуры затрат, а не денежная оценка.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041648"/>
            <a:ext cx="3685032" cy="20299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03503" y="4261104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03503" y="44074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0053"/>
                </a:solidFill>
                <a:latin typeface="Montserrat"/>
              </a:rPr>
              <a:t>10 Гц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3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Безопасность движения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3" y="5138928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Габарит проверяется в каждом кадре без участия человека: наблюдение за путём не зависит от внимания машиниста.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4041648"/>
            <a:ext cx="3685032" cy="20299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471416" y="4261104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471416" y="44074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0053"/>
                </a:solidFill>
                <a:latin typeface="Montserrat"/>
              </a:rPr>
              <a:t>15 % → 1 %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1416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Простои линии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71416" y="5138928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Ложное экстренное торможение — остановка на перегоне и сбой графика. Доля таких кадров снижена в 15 раз.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19872" y="4041648"/>
            <a:ext cx="3685032" cy="20299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339328" y="4261104"/>
            <a:ext cx="384048" cy="54864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339328" y="44074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0053"/>
                </a:solidFill>
                <a:latin typeface="Montserrat"/>
              </a:rPr>
              <a:t>17 строк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8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1D22"/>
                </a:solidFill>
                <a:latin typeface="Montserrat"/>
              </a:rPr>
              <a:t>Стоимость владения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8" y="5138928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Нет закупки и разметки датасетов, нет переобучения при смене лидара или вагона.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Готовность к внедрению: </a:t>
            </a:r>
            <a:r>
              <a:rPr sz="800" b="0">
                <a:solidFill>
                  <a:srgbClr val="6B6C75"/>
                </a:solidFill>
                <a:latin typeface="Montserrat"/>
              </a:rPr>
              <a:t>Docker + ROS 2 Humble, счёт на процессоре — видеокарта опциональна.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313432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Развёртывание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Три команды — и ничего настраивать не нужно.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Всё окружение собрано внутри образа; от инженера нужен только каталог с записью.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536192"/>
            <a:ext cx="11430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3504" y="171907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7373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Собрать образ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10312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0977"/>
                </a:solidFill>
                <a:latin typeface="Consolas"/>
              </a:rPr>
              <a:t>docker build -t rail-guard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73936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Внутри — ROS 2 Humble и весь воркспейс. При сборке прогоняется 51 тест: образ не соберётся, если тракт сломан.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054096"/>
            <a:ext cx="11430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03504" y="323697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25526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Проиграть запись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621024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0977"/>
                </a:solidFill>
                <a:latin typeface="Consolas"/>
              </a:rPr>
              <a:t>docker run --rm -v /путь/к/for_hackathon:/bags:ro \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0977"/>
                </a:solidFill>
                <a:latin typeface="Consolas"/>
              </a:rPr>
              <a:t>    rail-guard demo /bags/doubleT_platform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291839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Контейнер сам находит топик облака, ориентацию лидара, период кадров и скорость поезда.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572000"/>
            <a:ext cx="11430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03504" y="475488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77316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Живой лидар или запись на хосте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138928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0977"/>
                </a:solidFill>
                <a:latin typeface="Consolas"/>
              </a:rPr>
              <a:t>docker run --rm --network host --ipc host \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0977"/>
                </a:solidFill>
                <a:latin typeface="Consolas"/>
              </a:rPr>
              <a:t>    -e ROS_DOMAIN_ID=0 rail-guard 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809744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Контейнер работает только обработчиком и ждёт облако извне. Нужен общий DDS-домен, больше ничего.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29107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20977"/>
                </a:solidFill>
                <a:latin typeface="Montserrat"/>
              </a:rPr>
              <a:t>Без Docker: </a:t>
            </a:r>
            <a:r>
              <a:rPr sz="800" b="0">
                <a:solidFill>
                  <a:srgbClr val="6B6C75"/>
                </a:solidFill>
                <a:latin typeface="Montserrat"/>
              </a:rPr>
              <a:t>colcon build в ros2_ws, затем ros2 launch rail_guard_bringup metro.launch.py bag:=&lt;запись&gt;.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3191256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Соответствие задаче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Задача №5: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обнаружение посторонних объектов для беспилотных поездов в тоннеле метро по данным 3D-лидара.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536192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66928" y="17556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70078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Запуск в Docker, чтение bag, вывод результата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99339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три команды, приборная панель и сводка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468880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26883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33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Обнаружение объектов в габарите и дальность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926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nearest_distance в каждом кадре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401568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66928" y="36210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566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Работа на незнакомой записи без настройки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8587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топик, ориентация, скорость, период — сами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334256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66928" y="455371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498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Реакция, при которой поезд успевает встать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7914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дальность сравнивается с тормозным путём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266944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66928" y="54864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43153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Минимум ложных срабатываний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7241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15 % → 1 %; ноль на размеченном OSDaR23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1536192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364224" y="17556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170078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Реальное время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199339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73-84 мс на 64-луче, 99-104 мс на 128-луче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2468880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364224" y="26883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4" y="2633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Задержка реакции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2926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меряется целиком и входит в тормозной путь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3401568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364224" y="36210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3566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Обобщаемость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2864" y="38587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17 строк физики; остальное измеряется по кадрам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4334256"/>
            <a:ext cx="5632704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364224" y="455371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4498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1D22"/>
                </a:solidFill>
                <a:latin typeface="Montserrat"/>
              </a:rPr>
              <a:t>Тесты, документация, видео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2864" y="47914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B6C75"/>
                </a:solidFill>
                <a:latin typeface="Montserrat"/>
              </a:rPr>
              <a:t>51 проверка при сборке, 5 документов, demo.mp4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1344" y="5266944"/>
            <a:ext cx="5632704" cy="841248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0" y="543153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9 из 9 — закрыты кодом, а не намерением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7241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FFD6E3"/>
                </a:solidFill>
                <a:latin typeface="Montserrat"/>
              </a:rPr>
              <a:t>каждый пункт подтверждается прогоном, который воспроизводится одной командой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10896"/>
            <a:ext cx="2459736" cy="548640"/>
          </a:xfrm>
          <a:prstGeom prst="round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Планы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C75"/>
                </a:solidFill>
                <a:latin typeface="Montserrat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601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0977"/>
                </a:solidFill>
                <a:latin typeface="Montserrat"/>
              </a:rPr>
              <a:t>Разрыв между тем, что система видит, и тем, на какой скорости ходит поезд, </a:t>
            </a:r>
            <a:r>
              <a:rPr sz="1200" b="0">
                <a:solidFill>
                  <a:srgbClr val="6B6C75"/>
                </a:solidFill>
                <a:latin typeface="Montserrat"/>
              </a:rPr>
              <a:t>закрывается по четырём направлениям. Каждое уже измерено и имеет цену.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572768"/>
            <a:ext cx="5632704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3503" y="17922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1051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Ось пути из путевой карты метрополитена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395728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Геометрия маршрута известна заранее: route_* задаёт ось извне, и коридор достоверен на всю дальность обзора.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3" y="3182112"/>
            <a:ext cx="5193793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3503" y="325526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торможение по человеку до 100 м вместо 60 — механизм в коде уже есть, нужны данные линии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72768"/>
            <a:ext cx="5632704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00800" y="17922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81051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Разметка хотя бы одного проезда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395728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Единственный способ превратить «поведение системы» в измеримую долю ложных срабатываний.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3182112"/>
            <a:ext cx="5193792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0" y="325526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сейчас 10-93 % кадров «внимание», и различить слабый предмет и шум по одному кадру нельзя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822191"/>
            <a:ext cx="5632704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03503" y="404164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9935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Совместная работа с камерой и радаром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64515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При дальности 160 м безопасная скорость — около 18 м/с; для 80 км/ч нужен обзор порядка 200 м.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3" y="5431536"/>
            <a:ext cx="5193793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3" y="55046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результат публикуется в общий пайплайн, чтобы объединяться с датчиками, а не заменять их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822191"/>
            <a:ext cx="5632704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400800" y="404164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059935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Ускорение под стендовое железо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464515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C75"/>
                </a:solidFill>
                <a:latin typeface="Montserrat"/>
              </a:rPr>
              <a:t>На i7-9700E числа будут больше — и именно там имеет смысл включать видеокарту.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5431536"/>
            <a:ext cx="5193792" cy="0"/>
          </a:xfrm>
          <a:prstGeom prst="line">
            <a:avLst/>
          </a:prstGeom>
          <a:ln w="9525">
            <a:solidFill>
              <a:srgbClr val="E5E7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55046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3D1"/>
                </a:solidFill>
                <a:latin typeface="Montserrat"/>
              </a:rPr>
              <a:t>поддержка GPU уже есть, совпадение результата проверяется скриптом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8520" y="632764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ontserrat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17043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ontserrat"/>
              </a:rPr>
              <a:t>MetroGuarder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213969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6E3"/>
                </a:solidFill>
                <a:latin typeface="Montserrat"/>
              </a:rPr>
              <a:t>Команда «Слепой машинист» · задача №5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962656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Есть ли впереди что-то, чего там быть не должно, и на каком расстоянии.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C2E6"/>
                </a:solidFill>
                <a:latin typeface="Montserrat"/>
              </a:rPr>
              <a:t>Мы не учили систему узнавать препятствия — мы описали нормальный тоннель. Поэтому она работает на записи, которую видит впервые, и честно говорит, где её дальности не хватает.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5212080"/>
            <a:ext cx="1645920" cy="822960"/>
          </a:xfrm>
          <a:prstGeom prst="roundRect">
            <a:avLst/>
          </a:prstGeom>
          <a:noFill/>
          <a:ln w="127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120 м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2E6"/>
                </a:solidFill>
                <a:latin typeface="Montserrat"/>
              </a:rPr>
              <a:t>человек в габарите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9696" y="5212080"/>
            <a:ext cx="1645920" cy="822960"/>
          </a:xfrm>
          <a:prstGeom prst="roundRect">
            <a:avLst/>
          </a:prstGeom>
          <a:noFill/>
          <a:ln w="127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1 %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2E6"/>
                </a:solidFill>
                <a:latin typeface="Montserrat"/>
              </a:rPr>
              <a:t>ложных экстренных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5344" y="5212080"/>
            <a:ext cx="1645920" cy="822960"/>
          </a:xfrm>
          <a:prstGeom prst="roundRect">
            <a:avLst/>
          </a:prstGeom>
          <a:noFill/>
          <a:ln w="127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73-104 мс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2E6"/>
                </a:solidFill>
                <a:latin typeface="Montserrat"/>
              </a:rPr>
              <a:t>на кадр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5212080"/>
            <a:ext cx="1645920" cy="822960"/>
          </a:xfrm>
          <a:prstGeom prst="roundRect">
            <a:avLst/>
          </a:prstGeom>
          <a:noFill/>
          <a:ln w="127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17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9C2E6"/>
                </a:solidFill>
                <a:latin typeface="Montserrat"/>
              </a:rPr>
              <a:t>строк настройки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11056</TotalTime>
  <Words>817</Words>
  <Application>Microsoft Office PowerPoint</Application>
  <PresentationFormat>Широкоэкранный</PresentationFormat>
  <Paragraphs>61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Montserrat</vt:lpstr>
      <vt:lpstr>Wingdings</vt:lpstr>
      <vt:lpstr>Для Академия инноваторов 16_9</vt:lpstr>
      <vt:lpstr>Слепой машинист</vt:lpstr>
      <vt:lpstr>Команда: ”Слепой машинист”</vt:lpstr>
      <vt:lpstr>Команда: “Слепой машинист”</vt:lpstr>
      <vt:lpstr>Презентация PowerPoint</vt:lpstr>
      <vt:lpstr>КОРОТКО О РЕШЕНИИ</vt:lpstr>
      <vt:lpstr>Инструкция по развертыванию и запуску системы</vt:lpstr>
      <vt:lpstr>Бизнесовая составляющая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Пользователь</cp:lastModifiedBy>
  <cp:revision>97</cp:revision>
  <dcterms:created xsi:type="dcterms:W3CDTF">2023-05-15T07:36:23Z</dcterms:created>
  <dcterms:modified xsi:type="dcterms:W3CDTF">2026-09-25T16:02:45Z</dcterms:modified>
</cp:coreProperties>
</file>